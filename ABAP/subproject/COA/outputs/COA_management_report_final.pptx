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3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  <p:sldMasterId id="2147483820" r:id="rId2"/>
    <p:sldMasterId id="2147483976" r:id="rId3"/>
    <p:sldMasterId id="2147484060" r:id="rId4"/>
  </p:sldMasterIdLst>
  <p:notesMasterIdLst>
    <p:notesMasterId r:id="rId9"/>
  </p:notesMasterIdLst>
  <p:sldIdLst>
    <p:sldId id="949" r:id="rId5"/>
    <p:sldId id="983" r:id="rId6"/>
    <p:sldId id="985" r:id="rId7"/>
    <p:sldId id="9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D5A6"/>
    <a:srgbClr val="3EC6A6"/>
    <a:srgbClr val="92C340"/>
    <a:srgbClr val="0D70B6"/>
    <a:srgbClr val="214A8D"/>
    <a:srgbClr val="204B8E"/>
    <a:srgbClr val="60943A"/>
    <a:srgbClr val="E4E4E4"/>
    <a:srgbClr val="184AB8"/>
    <a:srgbClr val="165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3979" autoAdjust="0"/>
  </p:normalViewPr>
  <p:slideViewPr>
    <p:cSldViewPr snapToGrid="0">
      <p:cViewPr varScale="1">
        <p:scale>
          <a:sx n="81" d="100"/>
          <a:sy n="81" d="100"/>
        </p:scale>
        <p:origin x="845" y="9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8B1B04-7018-4CA9-8087-33ECB3746589}" type="datetimeFigureOut">
              <a:rPr lang="en-US" smtClean="0"/>
              <a:t>10/9/2026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64CEA-1551-40F6-BB48-14A212017A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676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164CEA-1551-40F6-BB48-14A212017A2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714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2364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5995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3581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9364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lvl="0" algn="ctr" fontAlgn="base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</a:pPr>
              <a:r>
                <a:rPr lang="en-US" sz="1150" b="0" kern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lang="en-US" sz="1150" b="0" kern="0" baseline="0" dirty="0">
                  <a:solidFill>
                    <a:schemeClr val="bg1"/>
                  </a:solidFill>
                  <a:latin typeface="Open Sans" pitchFamily="2" charset="0"/>
                  <a:ea typeface="Open Sans" pitchFamily="2" charset="0"/>
                  <a:cs typeface="Open Sans" pitchFamily="2" charset="0"/>
                </a:rPr>
                <a:t> SERVICE REPORT 2025</a:t>
              </a:r>
              <a:endParaRPr lang="en-US" sz="1150" b="0" kern="0" dirty="0">
                <a:solidFill>
                  <a:schemeClr val="bg1"/>
                </a:solidFill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56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39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55889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03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2499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08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9815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01396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15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860372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7171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INFRASTRUCTURE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SECURITY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SAP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70833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| SAP &amp; NON-SAP 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5376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SAP &amp; NON-SAP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10957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198121" y="151083"/>
            <a:ext cx="11795759" cy="327964"/>
            <a:chOff x="152401" y="151083"/>
            <a:chExt cx="11795759" cy="327964"/>
          </a:xfrm>
        </p:grpSpPr>
        <p:sp>
          <p:nvSpPr>
            <p:cNvPr id="4" name="Text Placeholder 4"/>
            <p:cNvSpPr txBox="1">
              <a:spLocks/>
            </p:cNvSpPr>
            <p:nvPr userDrawn="1"/>
          </p:nvSpPr>
          <p:spPr bwMode="black">
            <a:xfrm>
              <a:off x="6637851" y="203466"/>
              <a:ext cx="5310309" cy="234252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0" indent="0" algn="l" defTabSz="1088558" rtl="0" eaLnBrk="1" latinLnBrk="0" hangingPunct="1">
                <a:spcBef>
                  <a:spcPts val="1800"/>
                </a:spcBef>
                <a:buClr>
                  <a:schemeClr val="accent1"/>
                </a:buClr>
                <a:buSzPct val="80000"/>
                <a:buFontTx/>
                <a:buNone/>
                <a:defRPr sz="16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179964" indent="-179964" algn="l" defTabSz="1088558" rtl="0" eaLnBrk="1" latinLnBrk="0" hangingPunct="1">
                <a:spcBef>
                  <a:spcPts val="600"/>
                </a:spcBef>
                <a:buClr>
                  <a:schemeClr val="accent1"/>
                </a:buClr>
                <a:buSzPct val="100000"/>
                <a:buFont typeface="Wingdings" pitchFamily="2" charset="2"/>
                <a:buChar char="§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358775" indent="-179388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00000"/>
                <a:buFont typeface="Arial" panose="020B0604020202020204" pitchFamily="34" charset="0"/>
                <a:buChar char="–"/>
                <a:defRPr lang="en-US" sz="1400" kern="1200" noProof="0" dirty="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539892" indent="-179964" algn="l" defTabSz="1088558" rtl="0" eaLnBrk="1" latinLnBrk="0" hangingPunct="1">
                <a:spcBef>
                  <a:spcPts val="300"/>
                </a:spcBef>
                <a:buClr>
                  <a:schemeClr val="tx1"/>
                </a:buClr>
                <a:buSzPct val="120000"/>
                <a:buFont typeface="Arial" pitchFamily="34" charset="0"/>
                <a:buChar char="▫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719856" indent="-179964" algn="l" defTabSz="1088558" rtl="0" eaLnBrk="1" latinLnBrk="0" hangingPunct="1">
                <a:spcBef>
                  <a:spcPts val="100"/>
                </a:spcBef>
                <a:buClr>
                  <a:schemeClr val="tx1"/>
                </a:buClr>
                <a:buSzPct val="100000"/>
                <a:buFont typeface="Symbol" panose="05050102010706020507" pitchFamily="18" charset="2"/>
                <a:buChar char="-"/>
                <a:defRPr sz="11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993535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537814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408209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626373" indent="-272140" algn="l" defTabSz="108855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1088558" rtl="0" eaLnBrk="1" fontAlgn="auto" latinLnBrk="0" hangingPunct="1">
                <a:lnSpc>
                  <a:spcPct val="100000"/>
                </a:lnSpc>
                <a:spcBef>
                  <a:spcPts val="1800"/>
                </a:spcBef>
                <a:spcAft>
                  <a:spcPts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INFRASTRUCTURE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 </a:t>
              </a:r>
              <a:r>
                <a:rPr kumimoji="0" 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999999">
                      <a:lumMod val="75000"/>
                    </a:srgbClr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| IT SECURITY | SAP | SAP &amp; NON-SAP | </a:t>
              </a:r>
              <a:r>
                <a:rPr kumimoji="0" lang="en-US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014481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NON-SAP</a:t>
              </a:r>
            </a:p>
          </p:txBody>
        </p:sp>
        <p:sp>
          <p:nvSpPr>
            <p:cNvPr id="18" name="Rectangle 17"/>
            <p:cNvSpPr/>
            <p:nvPr userDrawn="1"/>
          </p:nvSpPr>
          <p:spPr bwMode="gray">
            <a:xfrm>
              <a:off x="2346960" y="451615"/>
              <a:ext cx="9601200" cy="27432"/>
            </a:xfrm>
            <a:prstGeom prst="rect">
              <a:avLst/>
            </a:prstGeom>
            <a:gradFill flip="none" rotWithShape="1">
              <a:gsLst>
                <a:gs pos="99153">
                  <a:srgbClr val="0160B7"/>
                </a:gs>
                <a:gs pos="67000">
                  <a:srgbClr val="0160B7">
                    <a:alpha val="20000"/>
                  </a:srgbClr>
                </a:gs>
                <a:gs pos="0">
                  <a:srgbClr val="0A2966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19" name="Rounded Rectangle 18"/>
            <p:cNvSpPr/>
            <p:nvPr userDrawn="1"/>
          </p:nvSpPr>
          <p:spPr bwMode="gray">
            <a:xfrm>
              <a:off x="152401" y="151083"/>
              <a:ext cx="2194559" cy="327964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80000">
                  <a:srgbClr val="002060">
                    <a:alpha val="96000"/>
                  </a:srgbClr>
                </a:gs>
                <a:gs pos="0">
                  <a:srgbClr val="0160B7"/>
                </a:gs>
              </a:gsLst>
              <a:lin ang="3600000" scaled="0"/>
              <a:tileRect/>
            </a:gra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itchFamily="2" charset="0"/>
                <a:ea typeface="Open Sans" pitchFamily="2" charset="0"/>
                <a:cs typeface="Open Sans" pitchFamily="2" charset="0"/>
                <a:sym typeface="Arial"/>
              </a:endParaRPr>
            </a:p>
          </p:txBody>
        </p:sp>
        <p:sp>
          <p:nvSpPr>
            <p:cNvPr id="24" name="TextBox 23"/>
            <p:cNvSpPr txBox="1"/>
            <p:nvPr userDrawn="1"/>
          </p:nvSpPr>
          <p:spPr>
            <a:xfrm>
              <a:off x="517607" y="213700"/>
              <a:ext cx="1686359" cy="17697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1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  <a:sym typeface="Arial"/>
                </a:rPr>
                <a:t>IT SERVICE REPORT 2025</a:t>
              </a:r>
            </a:p>
          </p:txBody>
        </p:sp>
        <p:pic>
          <p:nvPicPr>
            <p:cNvPr id="25" name="Picture 24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486" y="223625"/>
              <a:ext cx="164592" cy="164592"/>
            </a:xfrm>
            <a:prstGeom prst="rect">
              <a:avLst/>
            </a:prstGeom>
          </p:spPr>
        </p:pic>
      </p:grpSp>
      <p:sp>
        <p:nvSpPr>
          <p:cNvPr id="5" name="Right Triangle 4"/>
          <p:cNvSpPr/>
          <p:nvPr userDrawn="1"/>
        </p:nvSpPr>
        <p:spPr bwMode="gray">
          <a:xfrm>
            <a:off x="2392680" y="151083"/>
            <a:ext cx="175260" cy="327964"/>
          </a:xfrm>
          <a:prstGeom prst="rtTriangle">
            <a:avLst/>
          </a:prstGeom>
          <a:solidFill>
            <a:srgbClr val="0A2966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Franklin Gothic Book" panose="020B0503020102020204"/>
              <a:ea typeface="Arial Unicode MS" pitchFamily="34" charset="-128"/>
              <a:cs typeface="Arial Unicode MS" pitchFamily="34" charset="-128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8027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0000">
                <a:srgbClr val="09244B"/>
              </a:gs>
              <a:gs pos="16000">
                <a:srgbClr val="00339A"/>
              </a:gs>
              <a:gs pos="61000">
                <a:srgbClr val="04245D"/>
              </a:gs>
              <a:gs pos="35000">
                <a:srgbClr val="05307D"/>
              </a:gs>
            </a:gsLst>
            <a:lin ang="3000000" scaled="0"/>
            <a:tileRect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503869" y="3842656"/>
            <a:ext cx="5592132" cy="923116"/>
          </a:xfrm>
        </p:spPr>
        <p:txBody>
          <a:bodyPr anchor="t" anchorCtr="0">
            <a:noAutofit/>
          </a:bodyPr>
          <a:lstStyle>
            <a:lvl1pPr>
              <a:defRPr sz="5498" b="1">
                <a:solidFill>
                  <a:schemeClr val="accent1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you.</a:t>
            </a:r>
            <a:endParaRPr lang="de-DE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69" y="3224958"/>
            <a:ext cx="3027336" cy="40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40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236045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T INF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CF8DC8C-8B9A-8A29-00FD-64E7126D06BC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323772-3DB4-A3E3-F951-1F77DAEFD87B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7" name="Text Placeholder 4">
                <a:extLst>
                  <a:ext uri="{FF2B5EF4-FFF2-40B4-BE49-F238E27FC236}">
                    <a16:creationId xmlns:a16="http://schemas.microsoft.com/office/drawing/2014/main" id="{A8BB8EB6-7328-C7FB-B082-8F57EB09C0B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5A472C10-5F96-AC50-0A59-2AE1ABB900A1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E932BC54-7964-9005-AEC6-7E6B12343E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C3FFC84-4F6A-4276-98EC-8B6313EFF95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85589701-1778-E16D-5A8D-12802B614DA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14" name="Right Triangle 13">
              <a:extLst>
                <a:ext uri="{FF2B5EF4-FFF2-40B4-BE49-F238E27FC236}">
                  <a16:creationId xmlns:a16="http://schemas.microsoft.com/office/drawing/2014/main" id="{08230EC3-B6C7-0207-89C3-D8ADCA707E90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15" name="Group 4">
              <a:extLst>
                <a:ext uri="{FF2B5EF4-FFF2-40B4-BE49-F238E27FC236}">
                  <a16:creationId xmlns:a16="http://schemas.microsoft.com/office/drawing/2014/main" id="{9E4E28C5-0F78-8976-8DDF-5A67FB04EEE5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DC38870-1835-2950-CC32-3D1ACBE8D97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26" name="TextBox 6">
                <a:extLst>
                  <a:ext uri="{FF2B5EF4-FFF2-40B4-BE49-F238E27FC236}">
                    <a16:creationId xmlns:a16="http://schemas.microsoft.com/office/drawing/2014/main" id="{936A56F9-D053-8DEB-721C-9C316640167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17" name="Chevron 12">
              <a:extLst>
                <a:ext uri="{FF2B5EF4-FFF2-40B4-BE49-F238E27FC236}">
                  <a16:creationId xmlns:a16="http://schemas.microsoft.com/office/drawing/2014/main" id="{633DFC47-1096-92EB-9B17-96BF1EFD5357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0" name="Flowchart: Connector 19">
              <a:extLst>
                <a:ext uri="{FF2B5EF4-FFF2-40B4-BE49-F238E27FC236}">
                  <a16:creationId xmlns:a16="http://schemas.microsoft.com/office/drawing/2014/main" id="{2DC835C5-A976-F9A5-D0C1-3A6B5C524CA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22" name="Flowchart: Connector 21">
              <a:extLst>
                <a:ext uri="{FF2B5EF4-FFF2-40B4-BE49-F238E27FC236}">
                  <a16:creationId xmlns:a16="http://schemas.microsoft.com/office/drawing/2014/main" id="{C70634B8-310E-ABE7-4267-FFA87A9C5C9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BCA066F9-3A19-FAF6-15FB-6DCF9D2ADE9D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C6BB15F-B302-39AC-098D-007D7263795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033789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T SECURIT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C394148F-77EF-CD0E-FF27-BF2BBE236ED0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6DC755BB-7178-10EB-E30A-1799921991B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43" name="Text Placeholder 4">
                <a:extLst>
                  <a:ext uri="{FF2B5EF4-FFF2-40B4-BE49-F238E27FC236}">
                    <a16:creationId xmlns:a16="http://schemas.microsoft.com/office/drawing/2014/main" id="{4388C2E3-C9BC-0B7F-4721-ACCD5092C1D7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SAP | SAP &amp; NON-SAP | NON-SAP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1BC0965-2376-5A39-0234-B73D249B7E24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5" name="Rounded Rectangle 25">
                <a:extLst>
                  <a:ext uri="{FF2B5EF4-FFF2-40B4-BE49-F238E27FC236}">
                    <a16:creationId xmlns:a16="http://schemas.microsoft.com/office/drawing/2014/main" id="{D331EFEF-CCFC-332D-2016-F5C383698B01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56CA2C-0074-A022-BF3E-EE16095C7514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47" name="Picture 46">
                <a:extLst>
                  <a:ext uri="{FF2B5EF4-FFF2-40B4-BE49-F238E27FC236}">
                    <a16:creationId xmlns:a16="http://schemas.microsoft.com/office/drawing/2014/main" id="{71D87669-C891-EE68-AE9F-2D6D0CA69D7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36" name="Right Triangle 35">
              <a:extLst>
                <a:ext uri="{FF2B5EF4-FFF2-40B4-BE49-F238E27FC236}">
                  <a16:creationId xmlns:a16="http://schemas.microsoft.com/office/drawing/2014/main" id="{B432CD8C-CF60-97A0-8C67-1445491FB45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37" name="Group 4">
              <a:extLst>
                <a:ext uri="{FF2B5EF4-FFF2-40B4-BE49-F238E27FC236}">
                  <a16:creationId xmlns:a16="http://schemas.microsoft.com/office/drawing/2014/main" id="{106E6E5E-5036-2D43-8D22-7E162E503B6C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0571237D-7678-9D34-9AE9-F86C61CEE6F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577F569F-FC2D-FB56-F3BF-B9A14AC72EB8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38" name="Chevron 12">
              <a:extLst>
                <a:ext uri="{FF2B5EF4-FFF2-40B4-BE49-F238E27FC236}">
                  <a16:creationId xmlns:a16="http://schemas.microsoft.com/office/drawing/2014/main" id="{FB01BCFD-7224-5960-AE77-4A98924A4E98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CB1592D4-36A4-68A8-FB35-5B4CCF2E9130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F80B7182-A76B-127F-4BF3-7E8FD4821A1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48" name="Arrow: Chevron 47">
            <a:extLst>
              <a:ext uri="{FF2B5EF4-FFF2-40B4-BE49-F238E27FC236}">
                <a16:creationId xmlns:a16="http://schemas.microsoft.com/office/drawing/2014/main" id="{6E879341-4BE1-D9D8-24BB-3EBD89E40AC5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9" name="Arrow: Chevron 48">
            <a:extLst>
              <a:ext uri="{FF2B5EF4-FFF2-40B4-BE49-F238E27FC236}">
                <a16:creationId xmlns:a16="http://schemas.microsoft.com/office/drawing/2014/main" id="{B6F2BE81-56BD-6FAE-37E8-9C9AD9BBF49C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98647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4E275E6-5597-FA2E-8646-FE659289D208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0EFDCE6-EAC7-5FF8-7500-391F41CE8613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AE55A15F-DE0E-8DCE-85C4-70F70EB44BAD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SAP &amp; NON-SAP 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08BD069-D8EF-3E71-36C7-3AB01890C978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7A113609-E4BB-89CB-28AF-A4A2D694BDD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E600DE-9529-16D3-6EA3-56B10859BDA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185814F4-C54E-919B-BD97-9E07E6141B6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637BDB0D-33E3-084A-57CB-CE667B3FB539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B21CB8-4B33-32D7-20D8-C2CE3F81075A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AC9AFDC4-32AE-B0BE-F0DB-3E8653ED0DCA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2A831AD5-4A52-F224-207B-84704CFABD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29B34329-AAC6-BE84-01EE-7094F9DD89BD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DF5F13F6-17C6-BBEA-22F2-AE9522908682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1579298D-F659-88C3-BF0C-E7B5E3EA2132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2C13BE59-8CEC-97B7-407B-4B54621B34C4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67702F7E-73CA-CC61-C866-7DDE4F9DD8A7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6523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AP NON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4A75EE-C483-A71A-62F1-1259EB39818B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0B138DF-8A3A-043A-A936-A48AC7340798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963F9425-82F0-FDDE-90A1-2F6D9EAC94C5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56F5E24-01AC-50A9-0CBA-76CB5A51DACB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BF926CE6-64B6-BF76-139C-68636C79724E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52463B-185F-FF54-0CFF-3201BA088BFD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4ED3B386-5694-0583-0383-6AAE346F050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28F43FC0-2966-68CE-BB02-69B66C072F04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830FD6A-B5D9-5120-1AB9-BB92C56342CB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4CEA0F39-DD12-126E-083A-C535B95D2BB3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FF044450-3E87-5BB8-8E4E-11BE5EAA2D1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B5AE2CD1-0B2C-CB7F-15A0-D2844984E852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07626020-4F10-53B8-B1BF-169F365D035D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EAD7BB2F-6E46-6963-62B6-E52070220F7A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DFB07744-81D7-13A5-B8CB-5173A95FB3BC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B8CE1621-E66E-12D3-347F-F0E31FCF560B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88677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NON S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B01FCA1-EE03-25BF-DAB7-48D5AEAF194D}"/>
              </a:ext>
            </a:extLst>
          </p:cNvPr>
          <p:cNvGrpSpPr/>
          <p:nvPr userDrawn="1"/>
        </p:nvGrpSpPr>
        <p:grpSpPr>
          <a:xfrm>
            <a:off x="141973" y="86100"/>
            <a:ext cx="11949270" cy="392948"/>
            <a:chOff x="44610" y="86100"/>
            <a:chExt cx="11949270" cy="39294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9E97D8C-C2B7-37CF-AA4A-57F45047DC2E}"/>
                </a:ext>
              </a:extLst>
            </p:cNvPr>
            <p:cNvGrpSpPr/>
            <p:nvPr userDrawn="1"/>
          </p:nvGrpSpPr>
          <p:grpSpPr>
            <a:xfrm>
              <a:off x="198121" y="151083"/>
              <a:ext cx="11795759" cy="327964"/>
              <a:chOff x="152401" y="151083"/>
              <a:chExt cx="11795759" cy="327964"/>
            </a:xfrm>
          </p:grpSpPr>
          <p:sp>
            <p:nvSpPr>
              <p:cNvPr id="24" name="Text Placeholder 4">
                <a:extLst>
                  <a:ext uri="{FF2B5EF4-FFF2-40B4-BE49-F238E27FC236}">
                    <a16:creationId xmlns:a16="http://schemas.microsoft.com/office/drawing/2014/main" id="{B64142A6-963F-22C6-AD78-06FF22CA41B4}"/>
                  </a:ext>
                </a:extLst>
              </p:cNvPr>
              <p:cNvSpPr txBox="1">
                <a:spLocks/>
              </p:cNvSpPr>
              <p:nvPr userDrawn="1"/>
            </p:nvSpPr>
            <p:spPr bwMode="black">
              <a:xfrm>
                <a:off x="6637851" y="203466"/>
                <a:ext cx="5310309" cy="234252"/>
              </a:xfrm>
              <a:prstGeom prst="rect">
                <a:avLst/>
              </a:prstGeom>
            </p:spPr>
            <p:txBody>
              <a:bodyPr vert="horz" lIns="0" tIns="0" rIns="0" bIns="0" rtlCol="0">
                <a:noAutofit/>
              </a:bodyPr>
              <a:lstStyle>
                <a:lvl1pPr marL="0" indent="0" algn="l" defTabSz="1088558" rtl="0" eaLnBrk="1" latinLnBrk="0" hangingPunct="1">
                  <a:spcBef>
                    <a:spcPts val="1800"/>
                  </a:spcBef>
                  <a:buClr>
                    <a:schemeClr val="accent1"/>
                  </a:buClr>
                  <a:buSzPct val="80000"/>
                  <a:buFontTx/>
                  <a:buNone/>
                  <a:defRPr sz="16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179964" indent="-179964" algn="l" defTabSz="1088558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100000"/>
                  <a:buFont typeface="Wingdings" pitchFamily="2" charset="2"/>
                  <a:buChar char="§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358775" indent="-179388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–"/>
                  <a:defRPr lang="en-US" sz="1400" kern="1200" noProof="0" dirty="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39892" indent="-179964" algn="l" defTabSz="1088558" rtl="0" eaLnBrk="1" latinLnBrk="0" hangingPunct="1">
                  <a:spcBef>
                    <a:spcPts val="300"/>
                  </a:spcBef>
                  <a:buClr>
                    <a:schemeClr val="tx1"/>
                  </a:buClr>
                  <a:buSzPct val="120000"/>
                  <a:buFont typeface="Arial" pitchFamily="34" charset="0"/>
                  <a:buChar char="▫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19856" indent="-179964" algn="l" defTabSz="1088558" rtl="0" eaLnBrk="1" latinLnBrk="0" hangingPunct="1">
                  <a:spcBef>
                    <a:spcPts val="100"/>
                  </a:spcBef>
                  <a:buClr>
                    <a:schemeClr val="tx1"/>
                  </a:buClr>
                  <a:buSzPct val="100000"/>
                  <a:buFont typeface="Symbol" panose="05050102010706020507" pitchFamily="18" charset="2"/>
                  <a:buChar char="-"/>
                  <a:defRPr sz="11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993535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537814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08209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626373" indent="-272140" algn="l" defTabSz="1088558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1088558" rtl="0" eaLnBrk="1" fontAlgn="auto" latinLnBrk="0" hangingPunct="1">
                  <a:lnSpc>
                    <a:spcPct val="100000"/>
                  </a:lnSpc>
                  <a:spcBef>
                    <a:spcPts val="1800"/>
                  </a:spcBef>
                  <a:spcAft>
                    <a:spcPts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INFRASTRUCTURE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2">
                        <a:lumMod val="75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SECURITY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 |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SAP &amp; NON-SAP </a:t>
                </a:r>
                <a:r>
                  <a:rPr kumimoji="0" 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999999">
                        <a:lumMod val="75000"/>
                      </a:srgbClr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| </a:t>
                </a:r>
                <a:r>
                  <a:rPr kumimoji="0" lang="en-US" sz="105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498C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NON-SAP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9B90614-1A74-E136-2C0F-4723DB0C572C}"/>
                  </a:ext>
                </a:extLst>
              </p:cNvPr>
              <p:cNvSpPr/>
              <p:nvPr userDrawn="1"/>
            </p:nvSpPr>
            <p:spPr bwMode="gray">
              <a:xfrm>
                <a:off x="2346960" y="451615"/>
                <a:ext cx="9601200" cy="27432"/>
              </a:xfrm>
              <a:prstGeom prst="rect">
                <a:avLst/>
              </a:prstGeom>
              <a:solidFill>
                <a:srgbClr val="087FCD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29" name="Rounded Rectangle 25">
                <a:extLst>
                  <a:ext uri="{FF2B5EF4-FFF2-40B4-BE49-F238E27FC236}">
                    <a16:creationId xmlns:a16="http://schemas.microsoft.com/office/drawing/2014/main" id="{3A285109-B75E-B211-B068-A4308F5DB925}"/>
                  </a:ext>
                </a:extLst>
              </p:cNvPr>
              <p:cNvSpPr/>
              <p:nvPr userDrawn="1"/>
            </p:nvSpPr>
            <p:spPr bwMode="gray">
              <a:xfrm>
                <a:off x="152401" y="151083"/>
                <a:ext cx="2194559" cy="327964"/>
              </a:xfrm>
              <a:prstGeom prst="roundRect">
                <a:avLst>
                  <a:gd name="adj" fmla="val 0"/>
                </a:avLst>
              </a:prstGeom>
              <a:gradFill flip="none" rotWithShape="1">
                <a:gsLst>
                  <a:gs pos="80000">
                    <a:srgbClr val="002060">
                      <a:alpha val="96000"/>
                    </a:srgbClr>
                  </a:gs>
                  <a:gs pos="0">
                    <a:srgbClr val="0160B7"/>
                  </a:gs>
                </a:gsLst>
                <a:lin ang="3600000" scaled="0"/>
                <a:tileRect/>
              </a:gradFill>
              <a:ln w="25400" algn="ctr">
                <a:noFill/>
                <a:miter lim="800000"/>
                <a:headEnd/>
                <a:tailEnd/>
              </a:ln>
            </p:spPr>
            <p:txBody>
              <a:bodyPr lIns="90000" tIns="72000" rIns="90000" bIns="72000"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 pitchFamily="2" charset="0"/>
                  <a:ea typeface="Open Sans" pitchFamily="2" charset="0"/>
                  <a:cs typeface="Open Sans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D09A8A7-DBB8-98C9-46B1-D33BA177E996}"/>
                  </a:ext>
                </a:extLst>
              </p:cNvPr>
              <p:cNvSpPr txBox="1"/>
              <p:nvPr userDrawn="1"/>
            </p:nvSpPr>
            <p:spPr>
              <a:xfrm>
                <a:off x="517607" y="213700"/>
                <a:ext cx="1686359" cy="1769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0AB00"/>
                  </a:buClr>
                  <a:buSzPct val="80000"/>
                  <a:buFontTx/>
                  <a:buNone/>
                  <a:tabLst/>
                  <a:defRPr/>
                </a:pPr>
                <a:r>
                  <a:rPr kumimoji="0" lang="en-US" sz="11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Open Sans" pitchFamily="2" charset="0"/>
                    <a:ea typeface="Open Sans" pitchFamily="2" charset="0"/>
                    <a:cs typeface="Open Sans" pitchFamily="2" charset="0"/>
                  </a:rPr>
                  <a:t>IT SERVICE REPORT 2025</a:t>
                </a: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971E5A83-3BEF-24F6-BA03-103AB15C8D5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486" y="223625"/>
                <a:ext cx="164592" cy="164592"/>
              </a:xfrm>
              <a:prstGeom prst="rect">
                <a:avLst/>
              </a:prstGeom>
            </p:spPr>
          </p:pic>
        </p:grpSp>
        <p:sp>
          <p:nvSpPr>
            <p:cNvPr id="4" name="Right Triangle 3">
              <a:extLst>
                <a:ext uri="{FF2B5EF4-FFF2-40B4-BE49-F238E27FC236}">
                  <a16:creationId xmlns:a16="http://schemas.microsoft.com/office/drawing/2014/main" id="{A5FF3D21-381C-076C-1A76-589B240F0722}"/>
                </a:ext>
              </a:extLst>
            </p:cNvPr>
            <p:cNvSpPr/>
            <p:nvPr userDrawn="1"/>
          </p:nvSpPr>
          <p:spPr bwMode="gray">
            <a:xfrm>
              <a:off x="2392680" y="151083"/>
              <a:ext cx="175260" cy="327964"/>
            </a:xfrm>
            <a:prstGeom prst="rtTriangle">
              <a:avLst/>
            </a:prstGeom>
            <a:solidFill>
              <a:srgbClr val="0A2966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ranklin Gothic Book" panose="020B0503020102020204"/>
                <a:ea typeface="Arial Unicode MS" pitchFamily="34" charset="-128"/>
                <a:cs typeface="Arial Unicode MS" pitchFamily="34" charset="-128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EE275D3-B345-4DFB-F093-B603E17BE7A1}"/>
                </a:ext>
              </a:extLst>
            </p:cNvPr>
            <p:cNvGrpSpPr/>
            <p:nvPr userDrawn="1"/>
          </p:nvGrpSpPr>
          <p:grpSpPr>
            <a:xfrm>
              <a:off x="139700" y="128068"/>
              <a:ext cx="2428240" cy="350980"/>
              <a:chOff x="0" y="-9525"/>
              <a:chExt cx="1035859" cy="145250"/>
            </a:xfrm>
          </p:grpSpPr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B4A54C8-4AE2-72AD-5566-9DFAE4796F3E}"/>
                  </a:ext>
                </a:extLst>
              </p:cNvPr>
              <p:cNvSpPr/>
              <p:nvPr/>
            </p:nvSpPr>
            <p:spPr>
              <a:xfrm>
                <a:off x="0" y="0"/>
                <a:ext cx="1035859" cy="135725"/>
              </a:xfrm>
              <a:custGeom>
                <a:avLst/>
                <a:gdLst/>
                <a:ahLst/>
                <a:cxnLst/>
                <a:rect l="l" t="t" r="r" b="b"/>
                <a:pathLst>
                  <a:path w="1035859" h="135725">
                    <a:moveTo>
                      <a:pt x="0" y="0"/>
                    </a:moveTo>
                    <a:lnTo>
                      <a:pt x="1035859" y="0"/>
                    </a:lnTo>
                    <a:lnTo>
                      <a:pt x="1035859" y="135725"/>
                    </a:lnTo>
                    <a:lnTo>
                      <a:pt x="0" y="135725"/>
                    </a:lnTo>
                    <a:close/>
                  </a:path>
                </a:pathLst>
              </a:custGeom>
              <a:gradFill flip="none" rotWithShape="1">
                <a:gsLst>
                  <a:gs pos="74692">
                    <a:srgbClr val="0B78C2"/>
                  </a:gs>
                  <a:gs pos="0">
                    <a:srgbClr val="19569D"/>
                  </a:gs>
                  <a:gs pos="0">
                    <a:srgbClr val="22498C"/>
                  </a:gs>
                  <a:gs pos="43000">
                    <a:srgbClr val="214A8D"/>
                  </a:gs>
                  <a:gs pos="100000">
                    <a:srgbClr val="0880CE"/>
                  </a:gs>
                </a:gsLst>
                <a:lin ang="0" scaled="0"/>
                <a:tileRect/>
              </a:gradFill>
            </p:spPr>
          </p:sp>
          <p:sp>
            <p:nvSpPr>
              <p:cNvPr id="19" name="TextBox 6">
                <a:extLst>
                  <a:ext uri="{FF2B5EF4-FFF2-40B4-BE49-F238E27FC236}">
                    <a16:creationId xmlns:a16="http://schemas.microsoft.com/office/drawing/2014/main" id="{C9BC4F74-8F07-0516-388B-8682D5B914CD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1035859" cy="1452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00"/>
                  </a:lnSpc>
                </a:pPr>
                <a:r>
                  <a:rPr lang="en-US" sz="1200" b="0" dirty="0">
                    <a:solidFill>
                      <a:srgbClr val="FFFFFF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  <a:sym typeface="Futura Bold"/>
                  </a:rPr>
                  <a:t>IT SERVICE REPORT 2026</a:t>
                </a:r>
              </a:p>
            </p:txBody>
          </p:sp>
        </p:grpSp>
        <p:sp>
          <p:nvSpPr>
            <p:cNvPr id="6" name="Chevron 12">
              <a:extLst>
                <a:ext uri="{FF2B5EF4-FFF2-40B4-BE49-F238E27FC236}">
                  <a16:creationId xmlns:a16="http://schemas.microsoft.com/office/drawing/2014/main" id="{A65528F0-EFA3-FEBC-B046-7CED49881C66}"/>
                </a:ext>
              </a:extLst>
            </p:cNvPr>
            <p:cNvSpPr/>
            <p:nvPr userDrawn="1"/>
          </p:nvSpPr>
          <p:spPr bwMode="gray">
            <a:xfrm>
              <a:off x="44610" y="151082"/>
              <a:ext cx="186381" cy="325999"/>
            </a:xfrm>
            <a:prstGeom prst="chevron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7" name="Flowchart: Connector 6">
              <a:extLst>
                <a:ext uri="{FF2B5EF4-FFF2-40B4-BE49-F238E27FC236}">
                  <a16:creationId xmlns:a16="http://schemas.microsoft.com/office/drawing/2014/main" id="{E72E3736-EF26-765B-C5FC-F7B19950F5A4}"/>
                </a:ext>
              </a:extLst>
            </p:cNvPr>
            <p:cNvSpPr/>
            <p:nvPr userDrawn="1"/>
          </p:nvSpPr>
          <p:spPr bwMode="gray">
            <a:xfrm>
              <a:off x="2362864" y="86100"/>
              <a:ext cx="240851" cy="243676"/>
            </a:xfrm>
            <a:prstGeom prst="flowChartConnector">
              <a:avLst/>
            </a:prstGeom>
            <a:solidFill>
              <a:srgbClr val="FFFFFF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9E405082-6177-58EB-0EE3-DC6C0AB6AFFF}"/>
                </a:ext>
              </a:extLst>
            </p:cNvPr>
            <p:cNvSpPr/>
            <p:nvPr userDrawn="1"/>
          </p:nvSpPr>
          <p:spPr bwMode="gray">
            <a:xfrm>
              <a:off x="2425700" y="169600"/>
              <a:ext cx="97367" cy="98720"/>
            </a:xfrm>
            <a:prstGeom prst="flowChartConnector">
              <a:avLst/>
            </a:prstGeom>
            <a:solidFill>
              <a:srgbClr val="097ECA"/>
            </a:solidFill>
            <a:ln w="25400" algn="ctr">
              <a:noFill/>
              <a:miter lim="800000"/>
              <a:headEnd/>
              <a:tailEnd/>
            </a:ln>
          </p:spPr>
          <p:txBody>
            <a:bodyPr lIns="90000" tIns="72000" rIns="90000" bIns="72000" rtlCol="0" anchor="ctr"/>
            <a:lstStyle/>
            <a:p>
              <a:pPr marR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tabLst/>
              </a:pPr>
              <a:endParaRPr kumimoji="0" lang="en-US" sz="18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endParaRPr>
            </a:p>
          </p:txBody>
        </p:sp>
      </p:grpSp>
      <p:sp>
        <p:nvSpPr>
          <p:cNvPr id="32" name="Arrow: Chevron 31">
            <a:extLst>
              <a:ext uri="{FF2B5EF4-FFF2-40B4-BE49-F238E27FC236}">
                <a16:creationId xmlns:a16="http://schemas.microsoft.com/office/drawing/2014/main" id="{48987D61-5185-E6F3-58E2-BD1626E3B496}"/>
              </a:ext>
            </a:extLst>
          </p:cNvPr>
          <p:cNvSpPr/>
          <p:nvPr userDrawn="1"/>
        </p:nvSpPr>
        <p:spPr bwMode="gray">
          <a:xfrm>
            <a:off x="120281" y="151235"/>
            <a:ext cx="186380" cy="327963"/>
          </a:xfrm>
          <a:prstGeom prst="chevron">
            <a:avLst/>
          </a:prstGeom>
          <a:solidFill>
            <a:srgbClr val="95C640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08B313BB-727D-6D96-4F3F-1408791D1EC2}"/>
              </a:ext>
            </a:extLst>
          </p:cNvPr>
          <p:cNvSpPr/>
          <p:nvPr userDrawn="1"/>
        </p:nvSpPr>
        <p:spPr bwMode="gray">
          <a:xfrm>
            <a:off x="11076" y="151384"/>
            <a:ext cx="186380" cy="327963"/>
          </a:xfrm>
          <a:prstGeom prst="chevron">
            <a:avLst/>
          </a:prstGeom>
          <a:solidFill>
            <a:srgbClr val="60943A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endParaRPr kumimoji="0" lang="en-US" sz="18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276145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nd Contact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gray">
          <a:xfrm>
            <a:off x="-38101" y="1"/>
            <a:ext cx="12230101" cy="6858000"/>
          </a:xfrm>
          <a:prstGeom prst="rect">
            <a:avLst/>
          </a:prstGeom>
          <a:gradFill flip="none" rotWithShape="1">
            <a:gsLst>
              <a:gs pos="88000">
                <a:srgbClr val="21498C"/>
              </a:gs>
              <a:gs pos="13000">
                <a:schemeClr val="bg1"/>
              </a:gs>
              <a:gs pos="67000">
                <a:srgbClr val="1D5195"/>
              </a:gs>
              <a:gs pos="29000">
                <a:schemeClr val="bg1">
                  <a:lumMod val="9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Open Sans" pitchFamily="2" charset="0"/>
              <a:cs typeface="Arial" panose="020B0604020202020204" pitchFamily="34" charset="0"/>
            </a:endParaRPr>
          </a:p>
        </p:txBody>
      </p:sp>
      <p:sp>
        <p:nvSpPr>
          <p:cNvPr id="2" name="Thank you"/>
          <p:cNvSpPr>
            <a:spLocks noGrp="1"/>
          </p:cNvSpPr>
          <p:nvPr>
            <p:ph type="ctrTitle" hasCustomPrompt="1"/>
          </p:nvPr>
        </p:nvSpPr>
        <p:spPr bwMode="gray">
          <a:xfrm>
            <a:off x="7457400" y="4370968"/>
            <a:ext cx="4241419" cy="916005"/>
          </a:xfrm>
        </p:spPr>
        <p:txBody>
          <a:bodyPr anchor="t" anchorCtr="0">
            <a:noAutofit/>
          </a:bodyPr>
          <a:lstStyle>
            <a:lvl1pPr algn="r">
              <a:defRPr sz="5498" b="1">
                <a:solidFill>
                  <a:srgbClr val="64973A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Thank you!</a:t>
            </a:r>
            <a:endParaRPr lang="de-DE" dirty="0"/>
          </a:p>
        </p:txBody>
      </p:sp>
      <p:pic>
        <p:nvPicPr>
          <p:cNvPr id="6" name="Picture 5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1F8576DE-3181-A3E2-D7AD-4D178B1DC3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0890" y="3349024"/>
            <a:ext cx="3497929" cy="102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130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64">
          <p15:clr>
            <a:srgbClr val="FBAE40"/>
          </p15:clr>
        </p15:guide>
        <p15:guide id="2" orient="horz" pos="924">
          <p15:clr>
            <a:srgbClr val="FBAE40"/>
          </p15:clr>
        </p15:guide>
        <p15:guide id="4" orient="horz" pos="1830">
          <p15:clr>
            <a:srgbClr val="FBAE40"/>
          </p15:clr>
        </p15:guide>
        <p15:guide id="5" orient="horz" pos="4000">
          <p15:clr>
            <a:srgbClr val="FBAE40"/>
          </p15:clr>
        </p15:guide>
        <p15:guide id="6" pos="317">
          <p15:clr>
            <a:srgbClr val="FBAE40"/>
          </p15:clr>
        </p15:guide>
        <p15:guide id="8" pos="3841">
          <p15:clr>
            <a:srgbClr val="FBAE40"/>
          </p15:clr>
        </p15:guide>
        <p15:guide id="9" orient="horz" pos="31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71B669-64C1-47C9-9F86-9D84F5CED7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1780085"/>
            <a:ext cx="6294120" cy="1265057"/>
          </a:xfrm>
        </p:spPr>
        <p:txBody>
          <a:bodyPr anchor="b">
            <a:normAutofit/>
          </a:bodyPr>
          <a:lstStyle>
            <a:lvl1pPr algn="l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75579-3940-4DEC-A955-634DD1B00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1" y="3137218"/>
            <a:ext cx="6294120" cy="571377"/>
          </a:xfrm>
        </p:spPr>
        <p:txBody>
          <a:bodyPr>
            <a:normAutofit/>
          </a:bodyPr>
          <a:lstStyle>
            <a:lvl1pPr marL="0" indent="0" algn="l">
              <a:buNone/>
              <a:defRPr sz="2800" b="1">
                <a:solidFill>
                  <a:srgbClr val="044D6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395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34640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09" r:id="rId2"/>
    <p:sldLayoutId id="2147483807" r:id="rId3"/>
    <p:sldLayoutId id="2147483810" r:id="rId4"/>
    <p:sldLayoutId id="2147483808" r:id="rId5"/>
    <p:sldLayoutId id="2147483804" r:id="rId6"/>
    <p:sldLayoutId id="2147483806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1504976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95094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  <p:sldLayoutId id="2147483978" r:id="rId2"/>
    <p:sldLayoutId id="2147483979" r:id="rId3"/>
    <p:sldLayoutId id="2147483980" r:id="rId4"/>
    <p:sldLayoutId id="2147483981" r:id="rId5"/>
    <p:sldLayoutId id="2147483982" r:id="rId6"/>
    <p:sldLayoutId id="2147483983" r:id="rId7"/>
  </p:sldLayoutIdLst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"/>
          <p:cNvSpPr>
            <a:spLocks noGrp="1"/>
          </p:cNvSpPr>
          <p:nvPr userDrawn="1">
            <p:ph type="body" idx="1"/>
          </p:nvPr>
        </p:nvSpPr>
        <p:spPr bwMode="black">
          <a:xfrm>
            <a:off x="233022" y="1111624"/>
            <a:ext cx="11740708" cy="557604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2" name="Title Placeholder"/>
          <p:cNvSpPr>
            <a:spLocks noGrp="1"/>
          </p:cNvSpPr>
          <p:nvPr userDrawn="1">
            <p:ph type="title"/>
          </p:nvPr>
        </p:nvSpPr>
        <p:spPr bwMode="black">
          <a:xfrm>
            <a:off x="233022" y="557784"/>
            <a:ext cx="1174070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noProof="0" dirty="0"/>
              <a:t>Insert page title (sentence case)</a:t>
            </a:r>
          </a:p>
        </p:txBody>
      </p:sp>
    </p:spTree>
    <p:extLst>
      <p:ext uri="{BB962C8B-B14F-4D97-AF65-F5344CB8AC3E}">
        <p14:creationId xmlns:p14="http://schemas.microsoft.com/office/powerpoint/2010/main" val="39023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</p:sldLayoutIdLst>
  <p:timing>
    <p:tnLst>
      <p:par>
        <p:cTn id="1" dur="indefinite" restart="never" nodeType="tmRoot"/>
      </p:par>
    </p:tnLst>
  </p:timing>
  <p:hf hdr="0"/>
  <p:txStyles>
    <p:titleStyle>
      <a:lvl1pPr algn="l" defTabSz="1088558" rtl="0" eaLnBrk="1" latinLnBrk="0" hangingPunct="1">
        <a:spcBef>
          <a:spcPct val="0"/>
        </a:spcBef>
        <a:buNone/>
        <a:defRPr sz="2400" b="0" kern="1200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1088558" rtl="0" eaLnBrk="1" latinLnBrk="0" hangingPunct="1">
        <a:spcBef>
          <a:spcPts val="1800"/>
        </a:spcBef>
        <a:buClr>
          <a:schemeClr val="accent1"/>
        </a:buClr>
        <a:buSzPct val="8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79964" indent="-179964" algn="l" defTabSz="1088558" rtl="0" eaLnBrk="1" latinLnBrk="0" hangingPunct="1">
        <a:spcBef>
          <a:spcPts val="600"/>
        </a:spcBef>
        <a:buClr>
          <a:schemeClr val="accent1"/>
        </a:buClr>
        <a:buSzPct val="10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358775" indent="-179388" algn="l" defTabSz="1088558" rtl="0" eaLnBrk="1" latinLnBrk="0" hangingPunct="1">
        <a:spcBef>
          <a:spcPts val="300"/>
        </a:spcBef>
        <a:buClr>
          <a:schemeClr val="tx1"/>
        </a:buClr>
        <a:buSzPct val="100000"/>
        <a:buFont typeface="Arial" panose="020B0604020202020204" pitchFamily="34" charset="0"/>
        <a:buChar char="–"/>
        <a:defRPr lang="en-US" sz="14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539892" indent="-179964" algn="l" defTabSz="1088558" rtl="0" eaLnBrk="1" latinLnBrk="0" hangingPunct="1">
        <a:spcBef>
          <a:spcPts val="300"/>
        </a:spcBef>
        <a:buClr>
          <a:schemeClr val="tx1"/>
        </a:buClr>
        <a:buSzPct val="120000"/>
        <a:buFont typeface="Arial" pitchFamily="34" charset="0"/>
        <a:buChar char="▫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19856" indent="-179964" algn="l" defTabSz="1088558" rtl="0" eaLnBrk="1" latinLnBrk="0" hangingPunct="1">
        <a:spcBef>
          <a:spcPts val="100"/>
        </a:spcBef>
        <a:buClr>
          <a:schemeClr val="tx1"/>
        </a:buClr>
        <a:buSzPct val="100000"/>
        <a:buFont typeface="Symbol" panose="05050102010706020507" pitchFamily="18" charset="2"/>
        <a:buChar char="-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993535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814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209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373" indent="-272140" algn="l" defTabSz="108855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279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558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837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711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1396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5675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954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4233" algn="l" defTabSz="1088558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8878"/>
            <a:ext cx="12192000" cy="6226422"/>
          </a:xfrm>
          <a:prstGeom prst="rect">
            <a:avLst/>
          </a:prstGeom>
        </p:spPr>
      </p:pic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97DCA"/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50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Retrieving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Data </a:t>
            </a:r>
            <a:r>
              <a:rPr lang="en-US" sz="1400" b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Directly </a:t>
            </a: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from SAP Result Recording, Significantly Reducing Lead Time and Eliminating Manual Entry Errors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Franklin Gothic Book" panose="020B0503020102020204"/>
              <a:ea typeface="+mj-ea"/>
              <a:cs typeface="+mj-cs"/>
            </a:endParaRPr>
          </a:p>
        </p:txBody>
      </p:sp>
      <p:sp>
        <p:nvSpPr>
          <p:cNvPr id="48" name="Snip Single Corner Rectangle 47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163942" y="1777706"/>
            <a:ext cx="1748044" cy="189596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13852"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defRPr/>
            </a:pPr>
            <a:r>
              <a:rPr lang="en-US" sz="1100" b="1" kern="0" dirty="0">
                <a:solidFill>
                  <a:srgbClr val="FFFFFF"/>
                </a:solidFill>
                <a:latin typeface="Arial"/>
                <a:ea typeface="Arial Unicode MS" pitchFamily="34" charset="-128"/>
                <a:cs typeface="Arial Unicode MS" pitchFamily="34" charset="-128"/>
              </a:rPr>
              <a:t>PRESENT STATE</a:t>
            </a:r>
          </a:p>
        </p:txBody>
      </p:sp>
      <p:sp>
        <p:nvSpPr>
          <p:cNvPr id="49" name="Snip Single Corner Rectangle 48">
            <a:extLst>
              <a:ext uri="{FF2B5EF4-FFF2-40B4-BE49-F238E27FC236}">
                <a16:creationId xmlns:a16="http://schemas.microsoft.com/office/drawing/2014/main" id="{C9F13180-DE4A-4169-97F0-680181A99A39}"/>
              </a:ext>
            </a:extLst>
          </p:cNvPr>
          <p:cNvSpPr/>
          <p:nvPr/>
        </p:nvSpPr>
        <p:spPr bwMode="gray">
          <a:xfrm>
            <a:off x="6153570" y="1751019"/>
            <a:ext cx="2004993" cy="228097"/>
          </a:xfrm>
          <a:prstGeom prst="snip1Rect">
            <a:avLst>
              <a:gd name="adj" fmla="val 0"/>
            </a:avLst>
          </a:prstGeom>
          <a:noFill/>
          <a:ln w="1905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89954" tIns="71962" rIns="89954" bIns="71962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3852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rPr>
              <a:t>VALUE-DRIVEN RESULTS</a:t>
            </a:r>
          </a:p>
        </p:txBody>
      </p:sp>
      <p:sp>
        <p:nvSpPr>
          <p:cNvPr id="73" name="Rounded Rectangle 72"/>
          <p:cNvSpPr/>
          <p:nvPr/>
        </p:nvSpPr>
        <p:spPr bwMode="gray">
          <a:xfrm>
            <a:off x="379991" y="3640234"/>
            <a:ext cx="1052570" cy="306926"/>
          </a:xfrm>
          <a:prstGeom prst="roundRect">
            <a:avLst/>
          </a:prstGeom>
          <a:solidFill>
            <a:srgbClr val="FE5401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74" name="Rounded Rectangle 73"/>
          <p:cNvSpPr/>
          <p:nvPr/>
        </p:nvSpPr>
        <p:spPr bwMode="gray">
          <a:xfrm>
            <a:off x="3046990" y="2388168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Process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5" name="Rounded Rectangle 74"/>
          <p:cNvSpPr/>
          <p:nvPr/>
        </p:nvSpPr>
        <p:spPr bwMode="gray">
          <a:xfrm>
            <a:off x="4899978" y="352870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76" name="Rounded Rectangle 75"/>
          <p:cNvSpPr/>
          <p:nvPr/>
        </p:nvSpPr>
        <p:spPr bwMode="gray">
          <a:xfrm>
            <a:off x="4899977" y="3665736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Manual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77" name="Rounded Rectangle 76"/>
          <p:cNvSpPr/>
          <p:nvPr/>
        </p:nvSpPr>
        <p:spPr bwMode="gray">
          <a:xfrm>
            <a:off x="3222567" y="2726866"/>
            <a:ext cx="161391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copy inspection</a:t>
            </a:r>
          </a:p>
        </p:txBody>
      </p:sp>
      <p:sp>
        <p:nvSpPr>
          <p:cNvPr id="78" name="Rounded Rectangle 77"/>
          <p:cNvSpPr/>
          <p:nvPr/>
        </p:nvSpPr>
        <p:spPr bwMode="gray">
          <a:xfrm>
            <a:off x="3222566" y="29358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Random inspection copying</a:t>
            </a:r>
          </a:p>
        </p:txBody>
      </p:sp>
      <p:sp>
        <p:nvSpPr>
          <p:cNvPr id="79" name="Rounded Rectangle 78"/>
          <p:cNvSpPr/>
          <p:nvPr/>
        </p:nvSpPr>
        <p:spPr bwMode="gray">
          <a:xfrm>
            <a:off x="3222566" y="3177150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QA mapping</a:t>
            </a:r>
          </a:p>
        </p:txBody>
      </p:sp>
      <p:sp>
        <p:nvSpPr>
          <p:cNvPr id="80" name="Rounded Rectangle 79"/>
          <p:cNvSpPr/>
          <p:nvPr/>
        </p:nvSpPr>
        <p:spPr bwMode="gray">
          <a:xfrm>
            <a:off x="3222566" y="3400202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81" name="Rounded Rectangle 80"/>
          <p:cNvSpPr/>
          <p:nvPr/>
        </p:nvSpPr>
        <p:spPr bwMode="gray">
          <a:xfrm>
            <a:off x="575411" y="5025046"/>
            <a:ext cx="136197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NEW REQUIREMENT</a:t>
            </a:r>
          </a:p>
        </p:txBody>
      </p:sp>
      <p:sp>
        <p:nvSpPr>
          <p:cNvPr id="82" name="Rounded Rectangle 81"/>
          <p:cNvSpPr/>
          <p:nvPr/>
        </p:nvSpPr>
        <p:spPr bwMode="gray">
          <a:xfrm>
            <a:off x="5124130" y="2831423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3" name="Rounded Rectangle 82"/>
          <p:cNvSpPr/>
          <p:nvPr/>
        </p:nvSpPr>
        <p:spPr bwMode="gray">
          <a:xfrm>
            <a:off x="8343900" y="2590800"/>
            <a:ext cx="1231900" cy="240623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 Automation</a:t>
            </a:r>
          </a:p>
        </p:txBody>
      </p:sp>
      <p:sp>
        <p:nvSpPr>
          <p:cNvPr id="84" name="Rounded Rectangle 83"/>
          <p:cNvSpPr/>
          <p:nvPr/>
        </p:nvSpPr>
        <p:spPr bwMode="gray">
          <a:xfrm>
            <a:off x="8675181" y="2877744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Dynamic Mapping Matrix (By</a:t>
            </a:r>
            <a:r>
              <a:rPr kumimoji="0" lang="en-US" sz="9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JR/SR)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5" name="Rounded Rectangle 84"/>
          <p:cNvSpPr/>
          <p:nvPr/>
        </p:nvSpPr>
        <p:spPr bwMode="gray">
          <a:xfrm>
            <a:off x="8675181" y="3290881"/>
            <a:ext cx="10979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Get Data from Result Recording</a:t>
            </a:r>
          </a:p>
        </p:txBody>
      </p:sp>
      <p:sp>
        <p:nvSpPr>
          <p:cNvPr id="86" name="Rounded Rectangle 85"/>
          <p:cNvSpPr/>
          <p:nvPr/>
        </p:nvSpPr>
        <p:spPr bwMode="gray">
          <a:xfrm>
            <a:off x="10561003" y="3420194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7" name="Rounded Rectangle 86"/>
          <p:cNvSpPr/>
          <p:nvPr/>
        </p:nvSpPr>
        <p:spPr bwMode="gray">
          <a:xfrm>
            <a:off x="10557828" y="3559245"/>
            <a:ext cx="122020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Generated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88" name="Rounded Rectangle 87"/>
          <p:cNvSpPr/>
          <p:nvPr/>
        </p:nvSpPr>
        <p:spPr bwMode="gray">
          <a:xfrm>
            <a:off x="10774072" y="2644564"/>
            <a:ext cx="59087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200" b="1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COA</a:t>
            </a:r>
          </a:p>
        </p:txBody>
      </p:sp>
      <p:sp>
        <p:nvSpPr>
          <p:cNvPr id="89" name="Rounded Rectangle 88"/>
          <p:cNvSpPr/>
          <p:nvPr/>
        </p:nvSpPr>
        <p:spPr bwMode="gray">
          <a:xfrm>
            <a:off x="6440532" y="3581899"/>
            <a:ext cx="1052570" cy="306926"/>
          </a:xfrm>
          <a:prstGeom prst="roundRect">
            <a:avLst/>
          </a:prstGeom>
          <a:solidFill>
            <a:srgbClr val="034AD8"/>
          </a:solidFill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QA / Inspector</a:t>
            </a:r>
          </a:p>
        </p:txBody>
      </p:sp>
      <p:sp>
        <p:nvSpPr>
          <p:cNvPr id="90" name="Rounded Rectangle 89"/>
          <p:cNvSpPr/>
          <p:nvPr/>
        </p:nvSpPr>
        <p:spPr bwMode="gray">
          <a:xfrm>
            <a:off x="1432055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Manual Effort</a:t>
            </a:r>
          </a:p>
        </p:txBody>
      </p:sp>
      <p:sp>
        <p:nvSpPr>
          <p:cNvPr id="91" name="Rounded Rectangle 90"/>
          <p:cNvSpPr/>
          <p:nvPr/>
        </p:nvSpPr>
        <p:spPr bwMode="gray">
          <a:xfrm>
            <a:off x="1433079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Multiple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check and re-checks.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2" name="Rounded Rectangle 91"/>
          <p:cNvSpPr/>
          <p:nvPr/>
        </p:nvSpPr>
        <p:spPr bwMode="gray">
          <a:xfrm>
            <a:off x="3626486" y="4121119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FE5401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Data Inconsistency</a:t>
            </a:r>
          </a:p>
        </p:txBody>
      </p:sp>
      <p:sp>
        <p:nvSpPr>
          <p:cNvPr id="93" name="Rounded Rectangle 92"/>
          <p:cNvSpPr/>
          <p:nvPr/>
        </p:nvSpPr>
        <p:spPr bwMode="gray">
          <a:xfrm>
            <a:off x="3627510" y="4387577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Risk of human error and sample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mismatch</a:t>
            </a:r>
            <a:endParaRPr kumimoji="0" lang="en-US" sz="10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4" name="Rounded Rectangle 93"/>
          <p:cNvSpPr/>
          <p:nvPr/>
        </p:nvSpPr>
        <p:spPr bwMode="gray">
          <a:xfrm>
            <a:off x="7935870" y="3938718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High Accuracy</a:t>
            </a:r>
          </a:p>
        </p:txBody>
      </p:sp>
      <p:sp>
        <p:nvSpPr>
          <p:cNvPr id="95" name="Rounded Rectangle 94"/>
          <p:cNvSpPr/>
          <p:nvPr/>
        </p:nvSpPr>
        <p:spPr bwMode="gray">
          <a:xfrm>
            <a:off x="7936894" y="4294076"/>
            <a:ext cx="14361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data entry error &amp; inconsistencies</a:t>
            </a:r>
          </a:p>
        </p:txBody>
      </p:sp>
      <p:sp>
        <p:nvSpPr>
          <p:cNvPr id="96" name="Rounded Rectangle 95"/>
          <p:cNvSpPr/>
          <p:nvPr/>
        </p:nvSpPr>
        <p:spPr bwMode="gray">
          <a:xfrm>
            <a:off x="9982893" y="3898252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Time Data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97" name="Rounded Rectangle 96"/>
          <p:cNvSpPr/>
          <p:nvPr/>
        </p:nvSpPr>
        <p:spPr bwMode="gray">
          <a:xfrm>
            <a:off x="9983918" y="4253610"/>
            <a:ext cx="140409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Updates from Result</a:t>
            </a:r>
            <a:r>
              <a:rPr kumimoji="0" lang="en-US" sz="10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Recording &amp; Mapping in real time</a:t>
            </a:r>
            <a:r>
              <a:rPr kumimoji="0" lang="en-US" sz="10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</a:t>
            </a:r>
          </a:p>
        </p:txBody>
      </p:sp>
      <p:sp>
        <p:nvSpPr>
          <p:cNvPr id="98" name="Rounded Rectangle 97"/>
          <p:cNvSpPr/>
          <p:nvPr/>
        </p:nvSpPr>
        <p:spPr bwMode="gray">
          <a:xfrm>
            <a:off x="3222565" y="3627434"/>
            <a:ext cx="1764087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9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Manual data entry in COA</a:t>
            </a:r>
          </a:p>
        </p:txBody>
      </p:sp>
      <p:sp>
        <p:nvSpPr>
          <p:cNvPr id="99" name="Rounded Rectangle 98"/>
          <p:cNvSpPr/>
          <p:nvPr/>
        </p:nvSpPr>
        <p:spPr bwMode="gray">
          <a:xfrm>
            <a:off x="6120186" y="4914341"/>
            <a:ext cx="96877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algn="ctr" defTabSz="914400" eaLnBrk="1" fontAlgn="base" latinLnBrk="0" hangingPunct="1">
              <a:lnSpc>
                <a:spcPct val="100000"/>
              </a:lnSpc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lang="en-US" sz="1100" b="1" kern="0" dirty="0" smtClean="0">
                <a:solidFill>
                  <a:schemeClr val="bg1"/>
                </a:solidFill>
                <a:ea typeface="Arial Unicode MS" pitchFamily="34" charset="-128"/>
                <a:cs typeface="Arial Unicode MS" pitchFamily="34" charset="-128"/>
              </a:rPr>
              <a:t>Impact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0" name="Rounded Rectangle 99"/>
          <p:cNvSpPr/>
          <p:nvPr/>
        </p:nvSpPr>
        <p:spPr bwMode="gray">
          <a:xfrm>
            <a:off x="6866444" y="5304983"/>
            <a:ext cx="160223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Faster COA Delivery</a:t>
            </a:r>
          </a:p>
        </p:txBody>
      </p:sp>
      <p:sp>
        <p:nvSpPr>
          <p:cNvPr id="101" name="Rounded Rectangle 100"/>
          <p:cNvSpPr/>
          <p:nvPr/>
        </p:nvSpPr>
        <p:spPr bwMode="gray">
          <a:xfrm>
            <a:off x="8632269" y="5279416"/>
            <a:ext cx="2748893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Significantly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reduces COA lead time.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2" name="Rounded Rectangle 101"/>
          <p:cNvSpPr/>
          <p:nvPr/>
        </p:nvSpPr>
        <p:spPr bwMode="gray">
          <a:xfrm>
            <a:off x="6866444" y="5670911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Improved Data Accuracy</a:t>
            </a:r>
          </a:p>
        </p:txBody>
      </p:sp>
      <p:sp>
        <p:nvSpPr>
          <p:cNvPr id="103" name="Rounded Rectangle 102"/>
          <p:cNvSpPr/>
          <p:nvPr/>
        </p:nvSpPr>
        <p:spPr bwMode="gray">
          <a:xfrm>
            <a:off x="8632268" y="5660014"/>
            <a:ext cx="3064432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Eliminates manual errors and ensures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sample consistency.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4" name="Rounded Rectangle 103"/>
          <p:cNvSpPr/>
          <p:nvPr/>
        </p:nvSpPr>
        <p:spPr bwMode="gray">
          <a:xfrm>
            <a:off x="6856855" y="6117372"/>
            <a:ext cx="1736211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100" b="1" i="0" u="none" strike="noStrike" kern="0" cap="none" spc="0" normalizeH="0" baseline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Operational</a:t>
            </a:r>
            <a:r>
              <a:rPr kumimoji="0" lang="en-US" sz="1100" b="1" i="0" u="none" strike="noStrike" kern="0" cap="none" spc="0" normalizeH="0" noProof="0" dirty="0" smtClean="0">
                <a:ln>
                  <a:noFill/>
                </a:ln>
                <a:solidFill>
                  <a:srgbClr val="0C58DD"/>
                </a:solidFill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Efficiency</a:t>
            </a:r>
            <a:endParaRPr kumimoji="0" lang="en-US" sz="1100" b="1" i="0" u="none" strike="noStrike" kern="0" cap="none" spc="0" normalizeH="0" baseline="0" noProof="0" dirty="0" smtClean="0">
              <a:ln>
                <a:noFill/>
              </a:ln>
              <a:solidFill>
                <a:srgbClr val="0C58DD"/>
              </a:solidFill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105" name="Rounded Rectangle 104"/>
          <p:cNvSpPr/>
          <p:nvPr/>
        </p:nvSpPr>
        <p:spPr bwMode="gray">
          <a:xfrm>
            <a:off x="8632268" y="6114244"/>
            <a:ext cx="2952859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marR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  <a:tabLst/>
            </a:pPr>
            <a:r>
              <a:rPr kumimoji="0" lang="en-US" sz="105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Reduce</a:t>
            </a:r>
            <a:r>
              <a:rPr kumimoji="0" lang="en-US" sz="105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ea typeface="Arial Unicode MS" pitchFamily="34" charset="-128"/>
                <a:cs typeface="Arial Unicode MS" pitchFamily="34" charset="-128"/>
              </a:rPr>
              <a:t> manual workload and rework, allowing QA to focus on value-added task.</a:t>
            </a:r>
            <a:endParaRPr kumimoji="0" lang="en-US" sz="105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1" name="Rounded Rectangle 40"/>
          <p:cNvSpPr/>
          <p:nvPr/>
        </p:nvSpPr>
        <p:spPr bwMode="gray">
          <a:xfrm>
            <a:off x="2334774" y="6253283"/>
            <a:ext cx="3380226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Eliminate manual copying and manual data entry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2" name="Rounded Rectangle 41"/>
          <p:cNvSpPr/>
          <p:nvPr/>
        </p:nvSpPr>
        <p:spPr bwMode="gray">
          <a:xfrm>
            <a:off x="2334773" y="5664988"/>
            <a:ext cx="3665445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Create dynamic QA mapping matrix (Film Type ⇔ Source Inspection)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3" name="Rounded Rectangle 42"/>
          <p:cNvSpPr/>
          <p:nvPr/>
        </p:nvSpPr>
        <p:spPr bwMode="gray">
          <a:xfrm>
            <a:off x="2334772" y="5853949"/>
            <a:ext cx="3532628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Pull data automatically from Result Recording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4" name="Rounded Rectangle 43"/>
          <p:cNvSpPr/>
          <p:nvPr/>
        </p:nvSpPr>
        <p:spPr bwMode="gray">
          <a:xfrm>
            <a:off x="2334770" y="6043787"/>
            <a:ext cx="3818800" cy="355031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800" dirty="0"/>
              <a:t>Generate COA automatically </a:t>
            </a:r>
            <a:r>
              <a:rPr lang="en-US" sz="800" dirty="0" smtClean="0"/>
              <a:t>(Delivery </a:t>
            </a:r>
            <a:r>
              <a:rPr lang="en-US" sz="800" dirty="0"/>
              <a:t>Order → Inspection → Result → COA)</a:t>
            </a:r>
            <a:endParaRPr kumimoji="0" lang="en-US" sz="8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  <p:sp>
        <p:nvSpPr>
          <p:cNvPr id="45" name="Rounded Rectangle 44"/>
          <p:cNvSpPr/>
          <p:nvPr/>
        </p:nvSpPr>
        <p:spPr bwMode="gray">
          <a:xfrm>
            <a:off x="2070204" y="5036373"/>
            <a:ext cx="3886392" cy="649625"/>
          </a:xfrm>
          <a:prstGeom prst="round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90000" tIns="72000" rIns="90000" bIns="72000" rtlCol="0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F0AB00"/>
              </a:buClr>
              <a:buSzPct val="80000"/>
            </a:pPr>
            <a:r>
              <a:rPr lang="en-US" sz="900" dirty="0"/>
              <a:t>Automate COA generation by pulling data directly from result recording, implement a dynamic QA mapping matrix to link film types with their designated source inspections, and eliminate manual data entry to ensure sample consistency, reduce lead time, and improve data accuracy.</a:t>
            </a:r>
            <a:endParaRPr kumimoji="0" lang="en-US" sz="90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ea typeface="Arial Unicode MS" pitchFamily="34" charset="-128"/>
              <a:cs typeface="Arial Unicode MS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221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5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3DAAED-1B42-443D-84FB-EA7E0AB54185}"/>
              </a:ext>
            </a:extLst>
          </p:cNvPr>
          <p:cNvSpPr txBox="1"/>
          <p:nvPr/>
        </p:nvSpPr>
        <p:spPr>
          <a:xfrm>
            <a:off x="151293" y="1568309"/>
            <a:ext cx="33832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defTabSz="913852">
              <a:defRPr/>
            </a:pPr>
            <a:r>
              <a:rPr lang="en-US" sz="2000" b="1" u="sng" dirty="0">
                <a:solidFill>
                  <a:srgbClr val="F0AB00"/>
                </a:solidFill>
              </a:rPr>
              <a:t>Key Accomplishment</a:t>
            </a:r>
            <a:r>
              <a:rPr lang="en-US" sz="2000" b="1" u="sng" dirty="0" smtClean="0">
                <a:solidFill>
                  <a:srgbClr val="F0AB00"/>
                </a:solidFill>
              </a:rPr>
              <a:t>:</a:t>
            </a:r>
            <a:endParaRPr lang="en-US" b="1" dirty="0">
              <a:solidFill>
                <a:srgbClr val="F0AB00"/>
              </a:solidFill>
              <a:latin typeface="Franklin Gothic Book" panose="020B0503020102020204" pitchFamily="34" charset="0"/>
              <a:ea typeface="Libre Franklin"/>
              <a:cs typeface="Libre Franklin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198012"/>
              </p:ext>
            </p:extLst>
          </p:nvPr>
        </p:nvGraphicFramePr>
        <p:xfrm>
          <a:off x="239136" y="2011474"/>
          <a:ext cx="11633770" cy="4753202"/>
        </p:xfrm>
        <a:graphic>
          <a:graphicData uri="http://schemas.openxmlformats.org/drawingml/2006/table">
            <a:tbl>
              <a:tblPr firstRow="1"/>
              <a:tblGrid>
                <a:gridCol w="1106585">
                  <a:extLst>
                    <a:ext uri="{9D8B030D-6E8A-4147-A177-3AD203B41FA5}">
                      <a16:colId xmlns:a16="http://schemas.microsoft.com/office/drawing/2014/main" val="3782133878"/>
                    </a:ext>
                  </a:extLst>
                </a:gridCol>
                <a:gridCol w="347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4468">
                  <a:extLst>
                    <a:ext uri="{9D8B030D-6E8A-4147-A177-3AD203B41FA5}">
                      <a16:colId xmlns:a16="http://schemas.microsoft.com/office/drawing/2014/main" val="3448607302"/>
                    </a:ext>
                  </a:extLst>
                </a:gridCol>
                <a:gridCol w="1276709">
                  <a:extLst>
                    <a:ext uri="{9D8B030D-6E8A-4147-A177-3AD203B41FA5}">
                      <a16:colId xmlns:a16="http://schemas.microsoft.com/office/drawing/2014/main" val="1193463776"/>
                    </a:ext>
                  </a:extLst>
                </a:gridCol>
                <a:gridCol w="1199072">
                  <a:extLst>
                    <a:ext uri="{9D8B030D-6E8A-4147-A177-3AD203B41FA5}">
                      <a16:colId xmlns:a16="http://schemas.microsoft.com/office/drawing/2014/main" val="2625563171"/>
                    </a:ext>
                  </a:extLst>
                </a:gridCol>
                <a:gridCol w="960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51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PHASE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ACTIVITIES</a:t>
                      </a:r>
                    </a:p>
                  </a:txBody>
                  <a:tcPr marL="45684" marR="45684" marT="45684" marB="45684" anchor="ctr">
                    <a:lnL w="10000" cap="flat" cmpd="sng" algn="ctr">
                      <a:noFill/>
                      <a:prstDash val="solid"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kumimoji="0" lang="en-US" sz="13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DELIVERABLES</a:t>
                      </a:r>
                      <a:endParaRPr lang="en-US" sz="1300" b="1" i="0" u="none" strike="noStrike" dirty="0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START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bg1"/>
                          </a:solidFill>
                          <a:latin typeface="Arial Narrow"/>
                        </a:defRPr>
                      </a:lvl9pPr>
                    </a:lstStyle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Franklin Gothic Book" panose="020B0503020102020204" pitchFamily="34" charset="0"/>
                        </a:rPr>
                        <a:t>END DATE</a:t>
                      </a:r>
                      <a:endParaRPr lang="en-US" sz="1300" b="1" i="0" u="none" strike="noStrike">
                        <a:solidFill>
                          <a:schemeClr val="bg1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45684" marR="45684" marT="45684" marB="45684" anchor="ctr">
                    <a:lnL>
                      <a:noFill/>
                    </a:lnL>
                    <a:lnR>
                      <a:noFill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tc>
                  <a:txBody>
                    <a:bodyPr/>
                    <a:lstStyle>
                      <a:lvl1pPr marL="0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1pPr>
                      <a:lvl2pPr marL="544279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2pPr>
                      <a:lvl3pPr marL="1088558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3pPr>
                      <a:lvl4pPr marL="1632837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4pPr>
                      <a:lvl5pPr marL="217711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5pPr>
                      <a:lvl6pPr marL="2721396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6pPr>
                      <a:lvl7pPr marL="3265675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7pPr>
                      <a:lvl8pPr marL="3809954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8pPr>
                      <a:lvl9pPr marL="4354233" algn="l" defTabSz="1088558" rtl="0" eaLnBrk="1" latinLnBrk="0" hangingPunct="1">
                        <a:defRPr sz="2100" b="1" kern="1200">
                          <a:solidFill>
                            <a:schemeClr val="tx1"/>
                          </a:solidFill>
                          <a:latin typeface="Arial Narrow"/>
                        </a:defRPr>
                      </a:lvl9pPr>
                    </a:lstStyle>
                    <a:p>
                      <a:pPr marL="0" algn="ctr" defTabSz="1087905" rtl="0" eaLnBrk="1" fontAlgn="ctr" latinLnBrk="0" hangingPunct="1"/>
                      <a:r>
                        <a:rPr lang="en-US" sz="1300" b="1" u="none" strike="noStrike" kern="1200">
                          <a:solidFill>
                            <a:schemeClr val="bg1"/>
                          </a:solidFill>
                          <a:effectLst/>
                          <a:latin typeface="Franklin Gothic Book" panose="020B0503020102020204" pitchFamily="34" charset="0"/>
                          <a:ea typeface="+mn-ea"/>
                          <a:cs typeface="+mn-cs"/>
                        </a:rPr>
                        <a:t>STATUS</a:t>
                      </a:r>
                    </a:p>
                  </a:txBody>
                  <a:tcPr marL="45684" marR="45684" marT="45684" marB="45684" anchor="ctr">
                    <a:lnL>
                      <a:noFill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10000" cap="flat" cmpd="sng" algn="ctr">
                      <a:solidFill>
                        <a:srgbClr val="008FD3"/>
                      </a:solidFill>
                      <a:prstDash val="soli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8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Initiation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Project Scope &amp; Schedule are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>
                      <a:noFill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Discovery and Evaluation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Solutions are Discovered and Evaluated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22-May-26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6633739"/>
                  </a:ext>
                </a:extLst>
              </a:tr>
              <a:tr h="278637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Process Map Defined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18-May-26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100736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EXPLORE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Business Blueprint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29-May-26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51999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0000" cap="flat" cmpd="sng" algn="ctr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Initial Business Blueprint Confirmation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Baseline process and design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15642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006918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 and Design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Authorization Requirements and Design is Completed and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25-May-26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5-Jun-26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00B050"/>
                          </a:solidFill>
                          <a:effectLst/>
                          <a:latin typeface="Arial Narrow" panose="020B0606020202030204" pitchFamily="34" charset="0"/>
                        </a:rPr>
                        <a:t>Done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6295924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REALIZE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Enhancement (RICEF) Development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RICEF Design is Developed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30-Oct-26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 Narrow" panose="020B0606020202030204" pitchFamily="34" charset="0"/>
                        </a:rPr>
                        <a:t>In Progress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597145"/>
                  </a:ext>
                </a:extLst>
              </a:tr>
              <a:tr h="368258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 Scenario Test and Integration Test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Scenario and Integration Test are executed and Issues are resolved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8-Jun-26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FFC000"/>
                          </a:solidFill>
                          <a:effectLst/>
                          <a:latin typeface="Arial Narrow" panose="020B0606020202030204" pitchFamily="34" charset="0"/>
                        </a:rPr>
                        <a:t>In Progress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788064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UAT and EUT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UAT and EUT Document are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12-Nov-26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320517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DEPLOY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(UAT)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User Acceptance Test is Approved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6005216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 User Training (EUT)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End-Users are trained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253011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Prepare Production System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Production System Environment is Ready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19-Nov-26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125600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Cut-over Strategy is Documented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16-Nov-26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20-Nov-26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4160263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RUN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Live Production Environment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Proposed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792298"/>
                  </a:ext>
                </a:extLst>
              </a:tr>
              <a:tr h="253300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0000" cap="flat" cmpd="sng" algn="ctr">
                      <a:solidFill>
                        <a:srgbClr val="008FD3"/>
                      </a:solidFill>
                      <a:prstDash val="solid"/>
                    </a:lnL>
                    <a:lnR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Support After Go Live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008F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Functional or Technical Issues are Solved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23-Nov-26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Franklin Gothic Book" panose="020B05030201020202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4-Dec-26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1200" b="1" i="0" u="none" strike="noStrike" dirty="0">
                          <a:solidFill>
                            <a:srgbClr val="404040"/>
                          </a:solidFill>
                          <a:effectLst/>
                          <a:latin typeface="Arial Narrow" panose="020B0606020202030204" pitchFamily="34" charset="0"/>
                        </a:rPr>
                        <a:t>Planned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000" cap="flat" cmpd="sng" algn="ctr">
                      <a:solidFill>
                        <a:srgbClr val="008FD3"/>
                      </a:solidFill>
                      <a:prstDash val="solid"/>
                    </a:lnR>
                    <a:lnT w="6350" cap="flat" cmpd="sng" algn="ctr"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B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407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88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4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5" name="Title 3"/>
          <p:cNvSpPr txBox="1">
            <a:spLocks/>
          </p:cNvSpPr>
          <p:nvPr/>
        </p:nvSpPr>
        <p:spPr bwMode="black">
          <a:xfrm>
            <a:off x="241187" y="542635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 defTabSz="1088558" rtl="0" eaLnBrk="1" latinLnBrk="0" hangingPunct="1">
              <a:spcBef>
                <a:spcPct val="0"/>
              </a:spcBef>
              <a:buNone/>
              <a:defRPr sz="2400" b="0" kern="1200" baseline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defTabSz="914400">
              <a:spcBef>
                <a:spcPts val="0"/>
              </a:spcBef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301" name="Five point section title"/>
          <p:cNvSpPr txBox="1"/>
          <p:nvPr/>
        </p:nvSpPr>
        <p:spPr>
          <a:xfrm>
            <a:off x="338328" y="1408176"/>
            <a:ext cx="1115568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830" b="1">
                <a:solidFill>
                  <a:srgbClr val="F0AB00"/>
                </a:solidFill>
                <a:latin typeface="Franklin Gothic Book"/>
              </a:rPr>
              <a:t>WHY THE COA SCHEDULE WAS REVISED</a:t>
            </a:r>
          </a:p>
        </p:txBody>
      </p:sp>
      <p:sp>
        <p:nvSpPr>
          <p:cNvPr id="302" name="Executive banner"/>
          <p:cNvSpPr txBox="0"/>
          <p:nvPr/>
        </p:nvSpPr>
        <p:spPr>
          <a:xfrm>
            <a:off x="320040" y="1792224"/>
            <a:ext cx="11548872" cy="603504"/>
          </a:xfrm>
          <a:prstGeom prst="roundRect">
            <a:avLst/>
          </a:prstGeom>
          <a:solidFill>
            <a:srgbClr val="EAF4FA"/>
          </a:solidFill>
          <a:ln w="7620">
            <a:solidFill>
              <a:srgbClr val="B9DAED"/>
            </a:solidFill>
          </a:ln>
        </p:spPr>
      </p:sp>
      <p:sp>
        <p:nvSpPr>
          <p:cNvPr id="303" name="Executive blue accent"/>
          <p:cNvSpPr txBox="0"/>
          <p:nvPr/>
        </p:nvSpPr>
        <p:spPr>
          <a:xfrm>
            <a:off x="320040" y="1792224"/>
            <a:ext cx="91440" cy="603504"/>
          </a:xfrm>
          <a:prstGeom prst="rect">
            <a:avLst/>
          </a:prstGeom>
          <a:solidFill>
            <a:srgbClr val="087DCC"/>
          </a:solidFill>
          <a:ln w="0">
            <a:noFill/>
          </a:ln>
        </p:spPr>
      </p:sp>
      <p:sp>
        <p:nvSpPr>
          <p:cNvPr id="304" name="Executive message"/>
          <p:cNvSpPr txBox="1"/>
          <p:nvPr/>
        </p:nvSpPr>
        <p:spPr>
          <a:xfrm>
            <a:off x="557784" y="1847088"/>
            <a:ext cx="10972800" cy="49377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660" b="1">
                <a:solidFill>
                  <a:srgbClr val="173D5B"/>
                </a:solidFill>
                <a:latin typeface="Franklin Gothic Book"/>
              </a:rPr>
              <a:t>Scope agreed early. Detailed rules needed final agreement at</a:t>
            </a:r>
            <a:br/>
            <a:r>
              <a:rPr lang="en-US" sz="1660" b="1">
                <a:solidFill>
                  <a:srgbClr val="173D5B"/>
                </a:solidFill>
                <a:latin typeface="Franklin Gothic Book"/>
              </a:rPr>
              <a:t>Blueprint Confirmation Final, 25 Sep — before UAT.</a:t>
            </a:r>
          </a:p>
        </p:txBody>
      </p:sp>
      <p:sp>
        <p:nvSpPr>
          <p:cNvPr id="310" name="Row 01 panel"/>
          <p:cNvSpPr txBox="0"/>
          <p:nvPr/>
        </p:nvSpPr>
        <p:spPr>
          <a:xfrm>
            <a:off x="320040" y="2532888"/>
            <a:ext cx="11548872" cy="612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9DDE9"/>
            </a:solidFill>
          </a:ln>
        </p:spPr>
      </p:sp>
      <p:sp>
        <p:nvSpPr>
          <p:cNvPr id="311" name="Row 01 accent"/>
          <p:cNvSpPr txBox="0"/>
          <p:nvPr/>
        </p:nvSpPr>
        <p:spPr>
          <a:xfrm>
            <a:off x="320040" y="2532888"/>
            <a:ext cx="68580" cy="612648"/>
          </a:xfrm>
          <a:prstGeom prst="rect">
            <a:avLst/>
          </a:prstGeom>
          <a:solidFill>
            <a:srgbClr val="087DCC"/>
          </a:solidFill>
          <a:ln w="0">
            <a:noFill/>
          </a:ln>
        </p:spPr>
      </p:sp>
      <p:sp>
        <p:nvSpPr>
          <p:cNvPr id="312" name="Row 01 circle"/>
          <p:cNvSpPr txBox="0"/>
          <p:nvPr/>
        </p:nvSpPr>
        <p:spPr>
          <a:xfrm>
            <a:off x="502920" y="2670048"/>
            <a:ext cx="329184" cy="329184"/>
          </a:xfrm>
          <a:prstGeom prst="ellipse">
            <a:avLst/>
          </a:prstGeom>
          <a:solidFill>
            <a:srgbClr val="087DCC"/>
          </a:solidFill>
          <a:ln w="0">
            <a:noFill/>
          </a:ln>
        </p:spPr>
      </p:sp>
      <p:sp>
        <p:nvSpPr>
          <p:cNvPr id="313" name="Row 01 number"/>
          <p:cNvSpPr txBox="1"/>
          <p:nvPr/>
        </p:nvSpPr>
        <p:spPr>
          <a:xfrm>
            <a:off x="502920" y="2679192"/>
            <a:ext cx="329184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1190" b="1">
                <a:solidFill>
                  <a:srgbClr val="FFFFFF"/>
                </a:solidFill>
                <a:latin typeface="Franklin Gothic Book"/>
              </a:rPr>
              <a:t>01</a:t>
            </a:r>
          </a:p>
        </p:txBody>
      </p:sp>
      <p:sp>
        <p:nvSpPr>
          <p:cNvPr id="314" name="Row 01 heading"/>
          <p:cNvSpPr txBox="1"/>
          <p:nvPr/>
        </p:nvSpPr>
        <p:spPr>
          <a:xfrm>
            <a:off x="987552" y="2642616"/>
            <a:ext cx="222199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400" b="1">
                <a:solidFill>
                  <a:srgbClr val="173D5B"/>
                </a:solidFill>
                <a:latin typeface="Franklin Gothic Book"/>
              </a:rPr>
              <a:t>ORIGINAL SCOPE</a:t>
            </a:r>
          </a:p>
        </p:txBody>
      </p:sp>
      <p:sp>
        <p:nvSpPr>
          <p:cNvPr id="315" name="Row 01 separator"/>
          <p:cNvSpPr txBox="0"/>
          <p:nvPr/>
        </p:nvSpPr>
        <p:spPr>
          <a:xfrm>
            <a:off x="3319272" y="2642616"/>
            <a:ext cx="10973" cy="393192"/>
          </a:xfrm>
          <a:prstGeom prst="rect">
            <a:avLst/>
          </a:prstGeom>
          <a:solidFill>
            <a:srgbClr val="D1E1E9"/>
          </a:solidFill>
          <a:ln w="0">
            <a:noFill/>
          </a:ln>
        </p:spPr>
      </p:sp>
      <p:sp>
        <p:nvSpPr>
          <p:cNvPr id="316" name="Row 01 explanation"/>
          <p:cNvSpPr txBox="1"/>
          <p:nvPr/>
        </p:nvSpPr>
        <p:spPr>
          <a:xfrm>
            <a:off x="3529584" y="2587752"/>
            <a:ext cx="807415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90" b="0">
                <a:solidFill>
                  <a:srgbClr val="3A5369"/>
                </a:solidFill>
                <a:latin typeface="Franklin Gothic Book"/>
              </a:rPr>
              <a:t>COA automation was agreed from the start. IT's initial build was ready on 23 Sep using the specifications then available.</a:t>
            </a:r>
          </a:p>
        </p:txBody>
      </p:sp>
      <p:sp>
        <p:nvSpPr>
          <p:cNvPr id="320" name="Row 02 panel"/>
          <p:cNvSpPr txBox="0"/>
          <p:nvPr/>
        </p:nvSpPr>
        <p:spPr>
          <a:xfrm>
            <a:off x="320040" y="3218688"/>
            <a:ext cx="11548872" cy="612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9DDE9"/>
            </a:solidFill>
          </a:ln>
        </p:spPr>
      </p:sp>
      <p:sp>
        <p:nvSpPr>
          <p:cNvPr id="321" name="Row 02 accent"/>
          <p:cNvSpPr txBox="0"/>
          <p:nvPr/>
        </p:nvSpPr>
        <p:spPr>
          <a:xfrm>
            <a:off x="320040" y="3218688"/>
            <a:ext cx="68580" cy="612648"/>
          </a:xfrm>
          <a:prstGeom prst="rect">
            <a:avLst/>
          </a:prstGeom>
          <a:solidFill>
            <a:srgbClr val="639737"/>
          </a:solidFill>
          <a:ln w="0">
            <a:noFill/>
          </a:ln>
        </p:spPr>
      </p:sp>
      <p:sp>
        <p:nvSpPr>
          <p:cNvPr id="322" name="Row 02 circle"/>
          <p:cNvSpPr txBox="0"/>
          <p:nvPr/>
        </p:nvSpPr>
        <p:spPr>
          <a:xfrm>
            <a:off x="502920" y="3355848"/>
            <a:ext cx="329184" cy="329184"/>
          </a:xfrm>
          <a:prstGeom prst="ellipse">
            <a:avLst/>
          </a:prstGeom>
          <a:solidFill>
            <a:srgbClr val="639737"/>
          </a:solidFill>
          <a:ln w="0">
            <a:noFill/>
          </a:ln>
        </p:spPr>
      </p:sp>
      <p:sp>
        <p:nvSpPr>
          <p:cNvPr id="323" name="Row 02 number"/>
          <p:cNvSpPr txBox="1"/>
          <p:nvPr/>
        </p:nvSpPr>
        <p:spPr>
          <a:xfrm>
            <a:off x="502920" y="3364992"/>
            <a:ext cx="329184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1190" b="1">
                <a:solidFill>
                  <a:srgbClr val="FFFFFF"/>
                </a:solidFill>
                <a:latin typeface="Franklin Gothic Book"/>
              </a:rPr>
              <a:t>02</a:t>
            </a:r>
          </a:p>
        </p:txBody>
      </p:sp>
      <p:sp>
        <p:nvSpPr>
          <p:cNvPr id="324" name="Row 02 heading"/>
          <p:cNvSpPr txBox="1"/>
          <p:nvPr/>
        </p:nvSpPr>
        <p:spPr>
          <a:xfrm>
            <a:off x="987552" y="3328416"/>
            <a:ext cx="222199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400" b="1">
                <a:solidFill>
                  <a:srgbClr val="173D5B"/>
                </a:solidFill>
                <a:latin typeface="Franklin Gothic Book"/>
              </a:rPr>
              <a:t>MASTER DATA</a:t>
            </a:r>
          </a:p>
        </p:txBody>
      </p:sp>
      <p:sp>
        <p:nvSpPr>
          <p:cNvPr id="325" name="Row 02 separator"/>
          <p:cNvSpPr txBox="0"/>
          <p:nvPr/>
        </p:nvSpPr>
        <p:spPr>
          <a:xfrm>
            <a:off x="3319272" y="3328416"/>
            <a:ext cx="10973" cy="393192"/>
          </a:xfrm>
          <a:prstGeom prst="rect">
            <a:avLst/>
          </a:prstGeom>
          <a:solidFill>
            <a:srgbClr val="D1E1E9"/>
          </a:solidFill>
          <a:ln w="0">
            <a:noFill/>
          </a:ln>
        </p:spPr>
      </p:sp>
      <p:sp>
        <p:nvSpPr>
          <p:cNvPr id="326" name="Row 02 explanation"/>
          <p:cNvSpPr txBox="1"/>
          <p:nvPr/>
        </p:nvSpPr>
        <p:spPr>
          <a:xfrm>
            <a:off x="3529584" y="3273552"/>
            <a:ext cx="807415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90" b="0">
                <a:solidFill>
                  <a:srgbClr val="3A5369"/>
                </a:solidFill>
                <a:latin typeface="Franklin Gothic Book"/>
              </a:rPr>
              <a:t>Master data evolved by film/customer. Final standards were needed for COA templates, Lower/Upper Limits, Barrier MIC and Inspection Plans, outsourced inputs, and four production-stage mappings.</a:t>
            </a:r>
          </a:p>
        </p:txBody>
      </p:sp>
      <p:sp>
        <p:nvSpPr>
          <p:cNvPr id="330" name="Row 03 panel"/>
          <p:cNvSpPr txBox="0"/>
          <p:nvPr/>
        </p:nvSpPr>
        <p:spPr>
          <a:xfrm>
            <a:off x="320040" y="3904488"/>
            <a:ext cx="11548872" cy="612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9DDE9"/>
            </a:solidFill>
          </a:ln>
        </p:spPr>
      </p:sp>
      <p:sp>
        <p:nvSpPr>
          <p:cNvPr id="331" name="Row 03 accent"/>
          <p:cNvSpPr txBox="0"/>
          <p:nvPr/>
        </p:nvSpPr>
        <p:spPr>
          <a:xfrm>
            <a:off x="320040" y="3904488"/>
            <a:ext cx="68580" cy="612648"/>
          </a:xfrm>
          <a:prstGeom prst="rect">
            <a:avLst/>
          </a:prstGeom>
          <a:solidFill>
            <a:srgbClr val="087DCC"/>
          </a:solidFill>
          <a:ln w="0">
            <a:noFill/>
          </a:ln>
        </p:spPr>
      </p:sp>
      <p:sp>
        <p:nvSpPr>
          <p:cNvPr id="332" name="Row 03 circle"/>
          <p:cNvSpPr txBox="0"/>
          <p:nvPr/>
        </p:nvSpPr>
        <p:spPr>
          <a:xfrm>
            <a:off x="502920" y="4041648"/>
            <a:ext cx="329184" cy="329184"/>
          </a:xfrm>
          <a:prstGeom prst="ellipse">
            <a:avLst/>
          </a:prstGeom>
          <a:solidFill>
            <a:srgbClr val="087DCC"/>
          </a:solidFill>
          <a:ln w="0">
            <a:noFill/>
          </a:ln>
        </p:spPr>
      </p:sp>
      <p:sp>
        <p:nvSpPr>
          <p:cNvPr id="333" name="Row 03 number"/>
          <p:cNvSpPr txBox="1"/>
          <p:nvPr/>
        </p:nvSpPr>
        <p:spPr>
          <a:xfrm>
            <a:off x="502920" y="4050792"/>
            <a:ext cx="329184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1190" b="1">
                <a:solidFill>
                  <a:srgbClr val="FFFFFF"/>
                </a:solidFill>
                <a:latin typeface="Franklin Gothic Book"/>
              </a:rPr>
              <a:t>03</a:t>
            </a:r>
          </a:p>
        </p:txBody>
      </p:sp>
      <p:sp>
        <p:nvSpPr>
          <p:cNvPr id="334" name="Row 03 heading"/>
          <p:cNvSpPr txBox="1"/>
          <p:nvPr/>
        </p:nvSpPr>
        <p:spPr>
          <a:xfrm>
            <a:off x="987552" y="4014216"/>
            <a:ext cx="222199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400" b="1">
                <a:solidFill>
                  <a:srgbClr val="173D5B"/>
                </a:solidFill>
                <a:latin typeface="Franklin Gothic Book"/>
              </a:rPr>
              <a:t>MIC vs TRACEABILITY</a:t>
            </a:r>
          </a:p>
        </p:txBody>
      </p:sp>
      <p:sp>
        <p:nvSpPr>
          <p:cNvPr id="335" name="Row 03 separator"/>
          <p:cNvSpPr txBox="0"/>
          <p:nvPr/>
        </p:nvSpPr>
        <p:spPr>
          <a:xfrm>
            <a:off x="3319272" y="4014216"/>
            <a:ext cx="10973" cy="393192"/>
          </a:xfrm>
          <a:prstGeom prst="rect">
            <a:avLst/>
          </a:prstGeom>
          <a:solidFill>
            <a:srgbClr val="D1E1E9"/>
          </a:solidFill>
          <a:ln w="0">
            <a:noFill/>
          </a:ln>
        </p:spPr>
      </p:sp>
      <p:sp>
        <p:nvSpPr>
          <p:cNvPr id="336" name="Row 03 explanation"/>
          <p:cNvSpPr txBox="1"/>
          <p:nvPr/>
        </p:nvSpPr>
        <p:spPr>
          <a:xfrm>
            <a:off x="3529584" y="3959352"/>
            <a:ext cx="807415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90" b="0">
                <a:solidFill>
                  <a:srgbClr val="3A5369"/>
                </a:solidFill>
                <a:latin typeface="Franklin Gothic Book"/>
              </a:rPr>
              <a:t>MIC defines the test and acceptable limits; SAP records the result. Traceability finds its source batch/inspection lot through three levels that vary by film.</a:t>
            </a:r>
          </a:p>
        </p:txBody>
      </p:sp>
      <p:sp>
        <p:nvSpPr>
          <p:cNvPr id="340" name="Row 04 panel"/>
          <p:cNvSpPr txBox="0"/>
          <p:nvPr/>
        </p:nvSpPr>
        <p:spPr>
          <a:xfrm>
            <a:off x="320040" y="4590288"/>
            <a:ext cx="11548872" cy="61264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9DDE9"/>
            </a:solidFill>
          </a:ln>
        </p:spPr>
      </p:sp>
      <p:sp>
        <p:nvSpPr>
          <p:cNvPr id="341" name="Row 04 accent"/>
          <p:cNvSpPr txBox="0"/>
          <p:nvPr/>
        </p:nvSpPr>
        <p:spPr>
          <a:xfrm>
            <a:off x="320040" y="4590288"/>
            <a:ext cx="68580" cy="612648"/>
          </a:xfrm>
          <a:prstGeom prst="rect">
            <a:avLst/>
          </a:prstGeom>
          <a:solidFill>
            <a:srgbClr val="087DCC"/>
          </a:solidFill>
          <a:ln w="0">
            <a:noFill/>
          </a:ln>
        </p:spPr>
      </p:sp>
      <p:sp>
        <p:nvSpPr>
          <p:cNvPr id="342" name="Row 04 circle"/>
          <p:cNvSpPr txBox="0"/>
          <p:nvPr/>
        </p:nvSpPr>
        <p:spPr>
          <a:xfrm>
            <a:off x="502920" y="4727448"/>
            <a:ext cx="329184" cy="329184"/>
          </a:xfrm>
          <a:prstGeom prst="ellipse">
            <a:avLst/>
          </a:prstGeom>
          <a:solidFill>
            <a:srgbClr val="087DCC"/>
          </a:solidFill>
          <a:ln w="0">
            <a:noFill/>
          </a:ln>
        </p:spPr>
      </p:sp>
      <p:sp>
        <p:nvSpPr>
          <p:cNvPr id="343" name="Row 04 number"/>
          <p:cNvSpPr txBox="1"/>
          <p:nvPr/>
        </p:nvSpPr>
        <p:spPr>
          <a:xfrm>
            <a:off x="502920" y="4736592"/>
            <a:ext cx="329184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1190" b="1">
                <a:solidFill>
                  <a:srgbClr val="FFFFFF"/>
                </a:solidFill>
                <a:latin typeface="Franklin Gothic Book"/>
              </a:rPr>
              <a:t>04</a:t>
            </a:r>
          </a:p>
        </p:txBody>
      </p:sp>
      <p:sp>
        <p:nvSpPr>
          <p:cNvPr id="344" name="Row 04 heading"/>
          <p:cNvSpPr txBox="1"/>
          <p:nvPr/>
        </p:nvSpPr>
        <p:spPr>
          <a:xfrm>
            <a:off x="987552" y="4700016"/>
            <a:ext cx="2221992" cy="39319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400" b="1">
                <a:solidFill>
                  <a:srgbClr val="173D5B"/>
                </a:solidFill>
                <a:latin typeface="Franklin Gothic Book"/>
              </a:rPr>
              <a:t>BATCH LIST &amp; ALIAS</a:t>
            </a:r>
          </a:p>
        </p:txBody>
      </p:sp>
      <p:sp>
        <p:nvSpPr>
          <p:cNvPr id="345" name="Row 04 separator"/>
          <p:cNvSpPr txBox="0"/>
          <p:nvPr/>
        </p:nvSpPr>
        <p:spPr>
          <a:xfrm>
            <a:off x="3319272" y="4700016"/>
            <a:ext cx="10973" cy="393192"/>
          </a:xfrm>
          <a:prstGeom prst="rect">
            <a:avLst/>
          </a:prstGeom>
          <a:solidFill>
            <a:srgbClr val="D1E1E9"/>
          </a:solidFill>
          <a:ln w="0">
            <a:noFill/>
          </a:ln>
        </p:spPr>
      </p:sp>
      <p:sp>
        <p:nvSpPr>
          <p:cNvPr id="346" name="Row 04 explanation"/>
          <p:cNvSpPr txBox="1"/>
          <p:nvPr/>
        </p:nvSpPr>
        <p:spPr>
          <a:xfrm>
            <a:off x="3529584" y="4645152"/>
            <a:ext cx="8074152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290" b="0">
                <a:solidFill>
                  <a:srgbClr val="3A5369"/>
                </a:solidFill>
                <a:latin typeface="Franklin Gothic Book"/>
              </a:rPr>
              <a:t>Export/Domestic headers, special customer Batch Lists, DO examples and product aliases needed agreed rules for each variant.</a:t>
            </a:r>
          </a:p>
        </p:txBody>
      </p:sp>
      <p:sp>
        <p:nvSpPr>
          <p:cNvPr id="360" name="Schedule impact panel"/>
          <p:cNvSpPr txBox="0"/>
          <p:nvPr/>
        </p:nvSpPr>
        <p:spPr>
          <a:xfrm>
            <a:off x="320040" y="5303520"/>
            <a:ext cx="11548872" cy="941832"/>
          </a:xfrm>
          <a:prstGeom prst="roundRect">
            <a:avLst/>
          </a:prstGeom>
          <a:solidFill>
            <a:srgbClr val="087DCC"/>
          </a:solidFill>
          <a:ln w="0">
            <a:noFill/>
          </a:ln>
        </p:spPr>
      </p:sp>
      <p:sp>
        <p:nvSpPr>
          <p:cNvPr id="361" name="Schedule impact number circle"/>
          <p:cNvSpPr txBox="0"/>
          <p:nvPr/>
        </p:nvSpPr>
        <p:spPr>
          <a:xfrm>
            <a:off x="502920" y="5522976"/>
            <a:ext cx="329184" cy="329184"/>
          </a:xfrm>
          <a:prstGeom prst="ellipse">
            <a:avLst/>
          </a:prstGeom>
          <a:solidFill>
            <a:srgbClr val="F0AB00"/>
          </a:solidFill>
          <a:ln w="0">
            <a:noFill/>
          </a:ln>
        </p:spPr>
      </p:sp>
      <p:sp>
        <p:nvSpPr>
          <p:cNvPr id="362" name="Schedule impact number"/>
          <p:cNvSpPr txBox="1"/>
          <p:nvPr/>
        </p:nvSpPr>
        <p:spPr>
          <a:xfrm>
            <a:off x="502920" y="5532120"/>
            <a:ext cx="329184" cy="30175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ctr"/>
            <a:r>
              <a:rPr lang="en-US" sz="1190" b="1">
                <a:solidFill>
                  <a:srgbClr val="173D5B"/>
                </a:solidFill>
                <a:latin typeface="Franklin Gothic Book"/>
              </a:rPr>
              <a:t>05</a:t>
            </a:r>
          </a:p>
        </p:txBody>
      </p:sp>
      <p:sp>
        <p:nvSpPr>
          <p:cNvPr id="363" name="Schedule impact heading"/>
          <p:cNvSpPr txBox="1"/>
          <p:nvPr/>
        </p:nvSpPr>
        <p:spPr>
          <a:xfrm>
            <a:off x="987552" y="5468112"/>
            <a:ext cx="2194560" cy="283464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490" b="1">
                <a:solidFill>
                  <a:srgbClr val="FFFFFF"/>
                </a:solidFill>
                <a:latin typeface="Franklin Gothic Book"/>
              </a:rPr>
              <a:t>SCHEDULE IMPACT</a:t>
            </a:r>
          </a:p>
        </p:txBody>
      </p:sp>
      <p:sp>
        <p:nvSpPr>
          <p:cNvPr id="364" name="Schedule impact qualifier"/>
          <p:cNvSpPr txBox="1"/>
          <p:nvPr/>
        </p:nvSpPr>
        <p:spPr>
          <a:xfrm>
            <a:off x="987552" y="5806440"/>
            <a:ext cx="2221992" cy="21945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120" b="0">
                <a:solidFill>
                  <a:srgbClr val="DCEFFA"/>
                </a:solidFill>
                <a:latin typeface="Franklin Gothic Book"/>
              </a:rPr>
              <a:t>Final Blueprint finding</a:t>
            </a:r>
          </a:p>
        </p:txBody>
      </p:sp>
      <p:sp>
        <p:nvSpPr>
          <p:cNvPr id="365" name="Schedule impact separator"/>
          <p:cNvSpPr txBox="0"/>
          <p:nvPr/>
        </p:nvSpPr>
        <p:spPr>
          <a:xfrm>
            <a:off x="3319272" y="5449824"/>
            <a:ext cx="10973" cy="630936"/>
          </a:xfrm>
          <a:prstGeom prst="rect">
            <a:avLst/>
          </a:prstGeom>
          <a:solidFill>
            <a:srgbClr val="9BC8E8"/>
          </a:solidFill>
          <a:ln w="0">
            <a:noFill/>
          </a:ln>
        </p:spPr>
      </p:sp>
      <p:sp>
        <p:nvSpPr>
          <p:cNvPr id="366" name="Schedule impact dependency"/>
          <p:cNvSpPr txBox="1"/>
          <p:nvPr/>
        </p:nvSpPr>
        <p:spPr>
          <a:xfrm>
            <a:off x="3529584" y="5440680"/>
            <a:ext cx="8092440" cy="310896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530" b="1">
                <a:solidFill>
                  <a:srgbClr val="FFFFFF"/>
                </a:solidFill>
                <a:latin typeface="Franklin Gothic Book"/>
              </a:rPr>
              <a:t>QA confirms rules/data  →  IT adjusts and tests  →  UAT approves</a:t>
            </a:r>
          </a:p>
        </p:txBody>
      </p:sp>
      <p:sp>
        <p:nvSpPr>
          <p:cNvPr id="367" name="Schedule impact date"/>
          <p:cNvSpPr txBox="1"/>
          <p:nvPr/>
        </p:nvSpPr>
        <p:spPr>
          <a:xfrm>
            <a:off x="3529584" y="5769864"/>
            <a:ext cx="8092440" cy="256032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350" b="0">
                <a:solidFill>
                  <a:srgbClr val="FFFFFF"/>
                </a:solidFill>
                <a:latin typeface="Franklin Gothic Book"/>
              </a:rPr>
              <a:t>October go-live  →  proposed 23 Nov 2026, subject to data readiness and UAT.</a:t>
            </a:r>
          </a:p>
        </p:txBody>
      </p:sp>
      <p:sp>
        <p:nvSpPr>
          <p:cNvPr id="368" name="Management takeaway"/>
          <p:cNvSpPr txBox="1"/>
          <p:nvPr/>
        </p:nvSpPr>
        <p:spPr>
          <a:xfrm>
            <a:off x="338328" y="6373368"/>
            <a:ext cx="11247120" cy="18288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ctr"/>
          <a:lstStyle/>
          <a:p>
            <a:pPr algn="l"/>
            <a:r>
              <a:rPr lang="en-US" sz="1070" b="0">
                <a:solidFill>
                  <a:srgbClr val="748591"/>
                </a:solidFill>
                <a:latin typeface="Franklin Gothic Book"/>
              </a:rPr>
              <a:t>Management message: the schedule follows completion of business standards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15588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DDD49-5884-9E09-6C21-95BF76D92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62" y="2366336"/>
            <a:ext cx="10286725" cy="390780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E6C3C87-1341-4DC6-FEDC-76DD228D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25" y="-18307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C771CE9-AD06-5390-EA81-24CACE0D8103}"/>
              </a:ext>
            </a:extLst>
          </p:cNvPr>
          <p:cNvSpPr txBox="1">
            <a:spLocks/>
          </p:cNvSpPr>
          <p:nvPr/>
        </p:nvSpPr>
        <p:spPr bwMode="black">
          <a:xfrm>
            <a:off x="239790" y="544228"/>
            <a:ext cx="11741150" cy="67698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64973A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SAP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 </a:t>
            </a:r>
            <a:r>
              <a:rPr kumimoji="0" lang="en-US" sz="2199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Franklin Gothic Book" panose="020B0503020102020204" pitchFamily="34" charset="0"/>
                <a:ea typeface="+mj-ea"/>
                <a:cs typeface="+mj-cs"/>
              </a:rPr>
              <a:t>CAPABILITY ENHANCEMENT &amp; SIMPLIFICATION </a:t>
            </a:r>
            <a: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/>
            </a:r>
            <a:br>
              <a:rPr kumimoji="0" lang="en-US" sz="2199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lang="en-US" sz="2199" b="1" dirty="0" smtClean="0">
                <a:solidFill>
                  <a:srgbClr val="097DCA"/>
                </a:solidFill>
                <a:latin typeface="Franklin Gothic Book" panose="020B0503020102020204" pitchFamily="34" charset="0"/>
                <a:ea typeface="+mj-ea"/>
                <a:cs typeface="+mj-cs"/>
              </a:rPr>
              <a:t>SAP Enhancement for Streamlined COA Workflow</a:t>
            </a:r>
            <a:endParaRPr lang="en-US" sz="2200" b="1" dirty="0">
              <a:solidFill>
                <a:srgbClr val="097DCA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61BF9A-DC5F-FE5A-1A20-B7623D70D4F9}"/>
              </a:ext>
            </a:extLst>
          </p:cNvPr>
          <p:cNvSpPr txBox="1"/>
          <p:nvPr/>
        </p:nvSpPr>
        <p:spPr>
          <a:xfrm>
            <a:off x="151293" y="1608715"/>
            <a:ext cx="1255472" cy="399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99" b="1" i="0" u="sng" strike="noStrike" kern="1200" cap="none" spc="0" normalizeH="0" baseline="0" noProof="0" dirty="0">
                <a:ln>
                  <a:noFill/>
                </a:ln>
                <a:solidFill>
                  <a:srgbClr val="60943A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Schedule:</a:t>
            </a:r>
          </a:p>
        </p:txBody>
      </p:sp>
      <p:sp>
        <p:nvSpPr>
          <p:cNvPr id="29" name="Title 1"/>
          <p:cNvSpPr txBox="1">
            <a:spLocks/>
          </p:cNvSpPr>
          <p:nvPr/>
        </p:nvSpPr>
        <p:spPr>
          <a:xfrm>
            <a:off x="163942" y="1173033"/>
            <a:ext cx="11836291" cy="526236"/>
          </a:xfrm>
          <a:prstGeom prst="rect">
            <a:avLst/>
          </a:prstGeom>
        </p:spPr>
        <p:txBody>
          <a:bodyPr vert="horz" lIns="91416" tIns="45708" rIns="91416" bIns="45708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914126">
              <a:spcAft>
                <a:spcPts val="600"/>
              </a:spcAft>
              <a:defRPr/>
            </a:pPr>
            <a:r>
              <a:rPr lang="en-US" sz="1400" b="0" dirty="0">
                <a:solidFill>
                  <a:prstClr val="black">
                    <a:lumMod val="65000"/>
                    <a:lumOff val="35000"/>
                  </a:prstClr>
                </a:solidFill>
                <a:latin typeface="Franklin Gothic Book" panose="020B0503020102020204"/>
              </a:rPr>
              <a:t>Streamlining Quality Assurance by Retrieving Data Directly from SAP Result Recording, Significantly Reducing Lead Time and Eliminating Manual Entry Errors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BC2AD2E-6796-5FAD-92F3-30DAD897173E}"/>
              </a:ext>
            </a:extLst>
          </p:cNvPr>
          <p:cNvGrpSpPr/>
          <p:nvPr/>
        </p:nvGrpSpPr>
        <p:grpSpPr>
          <a:xfrm>
            <a:off x="10728834" y="4929486"/>
            <a:ext cx="1073525" cy="1276180"/>
            <a:chOff x="10103230" y="5093086"/>
            <a:chExt cx="1474578" cy="153352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B0A782A-C948-03A9-19AE-AD7A036F4887}"/>
                </a:ext>
              </a:extLst>
            </p:cNvPr>
            <p:cNvSpPr txBox="1"/>
            <p:nvPr/>
          </p:nvSpPr>
          <p:spPr>
            <a:xfrm>
              <a:off x="10103230" y="5093086"/>
              <a:ext cx="572422" cy="2210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1088122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0AB00"/>
                </a:buClr>
                <a:buSzPct val="80000"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/>
                  <a:ea typeface="Arial Unicode MS" pitchFamily="34" charset="-128"/>
                  <a:cs typeface="Arial Unicode MS" pitchFamily="34" charset="-128"/>
                </a:rPr>
                <a:t>Legend: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34BC9B2-A416-B9D1-8DAB-2E07C055B7D1}"/>
                </a:ext>
              </a:extLst>
            </p:cNvPr>
            <p:cNvGrpSpPr/>
            <p:nvPr/>
          </p:nvGrpSpPr>
          <p:grpSpPr>
            <a:xfrm>
              <a:off x="10103230" y="5357141"/>
              <a:ext cx="814868" cy="252658"/>
              <a:chOff x="0" y="0"/>
              <a:chExt cx="814868" cy="25265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8DA9BF0-7906-997E-5ADB-D482034C1F40}"/>
                  </a:ext>
                </a:extLst>
              </p:cNvPr>
              <p:cNvSpPr/>
              <p:nvPr/>
            </p:nvSpPr>
            <p:spPr>
              <a:xfrm>
                <a:off x="0" y="24836"/>
                <a:ext cx="182880" cy="180158"/>
              </a:xfrm>
              <a:prstGeom prst="rect">
                <a:avLst/>
              </a:prstGeom>
              <a:solidFill>
                <a:srgbClr val="BFBFB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  <p:sp>
            <p:nvSpPr>
              <p:cNvPr id="46" name="TextBox 15">
                <a:extLst>
                  <a:ext uri="{FF2B5EF4-FFF2-40B4-BE49-F238E27FC236}">
                    <a16:creationId xmlns:a16="http://schemas.microsoft.com/office/drawing/2014/main" id="{03E7B135-B394-33CF-655C-11C8FF7F420E}"/>
                  </a:ext>
                </a:extLst>
              </p:cNvPr>
              <p:cNvSpPr txBox="1"/>
              <p:nvPr/>
            </p:nvSpPr>
            <p:spPr>
              <a:xfrm>
                <a:off x="163559" y="0"/>
                <a:ext cx="651309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Planned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C33F121-9F84-AAF7-646E-860836D13384}"/>
                </a:ext>
              </a:extLst>
            </p:cNvPr>
            <p:cNvGrpSpPr/>
            <p:nvPr/>
          </p:nvGrpSpPr>
          <p:grpSpPr>
            <a:xfrm>
              <a:off x="10103230" y="5596513"/>
              <a:ext cx="1000866" cy="252658"/>
              <a:chOff x="0" y="239372"/>
              <a:chExt cx="1000866" cy="252658"/>
            </a:xfrm>
          </p:grpSpPr>
          <p:sp>
            <p:nvSpPr>
              <p:cNvPr id="43" name="TextBox 16">
                <a:extLst>
                  <a:ext uri="{FF2B5EF4-FFF2-40B4-BE49-F238E27FC236}">
                    <a16:creationId xmlns:a16="http://schemas.microsoft.com/office/drawing/2014/main" id="{810BE476-E756-C61C-1498-DB8C11BEADCC}"/>
                  </a:ext>
                </a:extLst>
              </p:cNvPr>
              <p:cNvSpPr txBox="1"/>
              <p:nvPr/>
            </p:nvSpPr>
            <p:spPr>
              <a:xfrm>
                <a:off x="163559" y="239372"/>
                <a:ext cx="837307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In Progress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EDE4E44D-6301-4F85-EC8D-5EBEF187CD67}"/>
                  </a:ext>
                </a:extLst>
              </p:cNvPr>
              <p:cNvSpPr/>
              <p:nvPr/>
            </p:nvSpPr>
            <p:spPr>
              <a:xfrm>
                <a:off x="0" y="271465"/>
                <a:ext cx="182880" cy="18650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A732BE-8159-DA0A-C5FA-FD1BDC8017E4}"/>
                </a:ext>
              </a:extLst>
            </p:cNvPr>
            <p:cNvGrpSpPr/>
            <p:nvPr/>
          </p:nvGrpSpPr>
          <p:grpSpPr>
            <a:xfrm>
              <a:off x="10111543" y="5875025"/>
              <a:ext cx="640597" cy="252658"/>
              <a:chOff x="1325336" y="0"/>
              <a:chExt cx="640597" cy="252658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CE35911-1560-4982-8241-6B7466745A0C}"/>
                  </a:ext>
                </a:extLst>
              </p:cNvPr>
              <p:cNvSpPr txBox="1"/>
              <p:nvPr/>
            </p:nvSpPr>
            <p:spPr>
              <a:xfrm>
                <a:off x="1476569" y="0"/>
                <a:ext cx="489364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Done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B0B2966-CA91-7C0D-EEF1-391EF01EECD6}"/>
                  </a:ext>
                </a:extLst>
              </p:cNvPr>
              <p:cNvSpPr/>
              <p:nvPr/>
            </p:nvSpPr>
            <p:spPr>
              <a:xfrm>
                <a:off x="1325336" y="24836"/>
                <a:ext cx="182880" cy="180158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4E071B3-BEF6-1892-D560-7AA0D6C8D466}"/>
                </a:ext>
              </a:extLst>
            </p:cNvPr>
            <p:cNvGrpSpPr/>
            <p:nvPr/>
          </p:nvGrpSpPr>
          <p:grpSpPr>
            <a:xfrm>
              <a:off x="10103230" y="6134578"/>
              <a:ext cx="1474578" cy="252658"/>
              <a:chOff x="0" y="0"/>
              <a:chExt cx="1474578" cy="252658"/>
            </a:xfrm>
          </p:grpSpPr>
          <p:sp>
            <p:nvSpPr>
              <p:cNvPr id="39" name="TextBox 2">
                <a:extLst>
                  <a:ext uri="{FF2B5EF4-FFF2-40B4-BE49-F238E27FC236}">
                    <a16:creationId xmlns:a16="http://schemas.microsoft.com/office/drawing/2014/main" id="{C7FAB42B-C767-7AB0-B485-A7585646DDC1}"/>
                  </a:ext>
                </a:extLst>
              </p:cNvPr>
              <p:cNvSpPr txBox="1"/>
              <p:nvPr/>
            </p:nvSpPr>
            <p:spPr>
              <a:xfrm>
                <a:off x="162658" y="0"/>
                <a:ext cx="1311920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Proposed Milestone</a:t>
                </a:r>
              </a:p>
            </p:txBody>
          </p:sp>
          <p:sp>
            <p:nvSpPr>
              <p:cNvPr id="40" name="Diamond 39">
                <a:extLst>
                  <a:ext uri="{FF2B5EF4-FFF2-40B4-BE49-F238E27FC236}">
                    <a16:creationId xmlns:a16="http://schemas.microsoft.com/office/drawing/2014/main" id="{43358C39-7FDC-F25E-B20E-B479679BE493}"/>
                  </a:ext>
                </a:extLst>
              </p:cNvPr>
              <p:cNvSpPr/>
              <p:nvPr/>
            </p:nvSpPr>
            <p:spPr>
              <a:xfrm>
                <a:off x="0" y="25299"/>
                <a:ext cx="182880" cy="179232"/>
              </a:xfrm>
              <a:prstGeom prst="diamond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AEE7B29-44F7-6482-9820-990AC7FB525D}"/>
                </a:ext>
              </a:extLst>
            </p:cNvPr>
            <p:cNvGrpSpPr/>
            <p:nvPr/>
          </p:nvGrpSpPr>
          <p:grpSpPr>
            <a:xfrm>
              <a:off x="10103230" y="6373950"/>
              <a:ext cx="1412044" cy="252658"/>
              <a:chOff x="0" y="239372"/>
              <a:chExt cx="1412044" cy="252658"/>
            </a:xfrm>
          </p:grpSpPr>
          <p:sp>
            <p:nvSpPr>
              <p:cNvPr id="37" name="TextBox 1">
                <a:extLst>
                  <a:ext uri="{FF2B5EF4-FFF2-40B4-BE49-F238E27FC236}">
                    <a16:creationId xmlns:a16="http://schemas.microsoft.com/office/drawing/2014/main" id="{1B665DFF-5073-C52C-523A-BD83CC4408A5}"/>
                  </a:ext>
                </a:extLst>
              </p:cNvPr>
              <p:cNvSpPr txBox="1"/>
              <p:nvPr/>
            </p:nvSpPr>
            <p:spPr>
              <a:xfrm>
                <a:off x="162658" y="239372"/>
                <a:ext cx="1249386" cy="252658"/>
              </a:xfrm>
              <a:prstGeom prst="rect">
                <a:avLst/>
              </a:prstGeom>
              <a:noFill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wrap="none" rtlCol="0" anchor="t">
                <a:spAutoFit/>
              </a:bodyPr>
              <a:lstStyle>
                <a:lvl1pPr marL="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75000"/>
                        <a:lumOff val="25000"/>
                      </a:srgbClr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Finished Milestone</a:t>
                </a:r>
              </a:p>
            </p:txBody>
          </p:sp>
          <p:sp>
            <p:nvSpPr>
              <p:cNvPr id="38" name="Diamond 37">
                <a:extLst>
                  <a:ext uri="{FF2B5EF4-FFF2-40B4-BE49-F238E27FC236}">
                    <a16:creationId xmlns:a16="http://schemas.microsoft.com/office/drawing/2014/main" id="{9AD593B0-BB10-3508-1ECF-C78886515ACE}"/>
                  </a:ext>
                </a:extLst>
              </p:cNvPr>
              <p:cNvSpPr/>
              <p:nvPr/>
            </p:nvSpPr>
            <p:spPr>
              <a:xfrm>
                <a:off x="0" y="271928"/>
                <a:ext cx="182880" cy="185583"/>
              </a:xfrm>
              <a:prstGeom prst="diamond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108812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C4313E8-5634-12AF-8E73-595AF8F3F684}"/>
              </a:ext>
            </a:extLst>
          </p:cNvPr>
          <p:cNvGrpSpPr/>
          <p:nvPr/>
        </p:nvGrpSpPr>
        <p:grpSpPr>
          <a:xfrm>
            <a:off x="7620323" y="1608715"/>
            <a:ext cx="1265529" cy="5080940"/>
            <a:chOff x="2888082" y="1357902"/>
            <a:chExt cx="1265859" cy="345527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0B6BAB-B954-8B16-F400-1B60C6992BA1}"/>
                </a:ext>
              </a:extLst>
            </p:cNvPr>
            <p:cNvSpPr txBox="1"/>
            <p:nvPr/>
          </p:nvSpPr>
          <p:spPr>
            <a:xfrm>
              <a:off x="2888082" y="1357902"/>
              <a:ext cx="1265859" cy="2632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38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798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 Narrow"/>
                  <a:ea typeface="+mn-ea"/>
                  <a:cs typeface="+mn-cs"/>
                </a:rPr>
                <a:t>We Are Here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EA34C08-8F64-813D-4921-2E6E7BE20F67}"/>
                </a:ext>
              </a:extLst>
            </p:cNvPr>
            <p:cNvCxnSpPr>
              <a:cxnSpLocks/>
            </p:cNvCxnSpPr>
            <p:nvPr/>
          </p:nvCxnSpPr>
          <p:spPr>
            <a:xfrm>
              <a:off x="3520846" y="1630560"/>
              <a:ext cx="0" cy="3182612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82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2.xml><?xml version="1.0" encoding="utf-8"?>
<a:theme xmlns:a="http://schemas.openxmlformats.org/drawingml/2006/main" name="4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3.xml><?xml version="1.0" encoding="utf-8"?>
<a:theme xmlns:a="http://schemas.openxmlformats.org/drawingml/2006/main" name="11_SAP 2025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4.xml><?xml version="1.0" encoding="utf-8"?>
<a:theme xmlns:a="http://schemas.openxmlformats.org/drawingml/2006/main" name="16_SAP 2026 16x9 white">
  <a:themeElements>
    <a:clrScheme name="SAP_colors_2017">
      <a:dk1>
        <a:srgbClr val="000000"/>
      </a:dk1>
      <a:lt1>
        <a:srgbClr val="FFFFFF"/>
      </a:lt1>
      <a:dk2>
        <a:srgbClr val="CCCCCC"/>
      </a:dk2>
      <a:lt2>
        <a:srgbClr val="999999"/>
      </a:lt2>
      <a:accent1>
        <a:srgbClr val="F0AB00"/>
      </a:accent1>
      <a:accent2>
        <a:srgbClr val="666666"/>
      </a:accent2>
      <a:accent3>
        <a:srgbClr val="008FD3"/>
      </a:accent3>
      <a:accent4>
        <a:srgbClr val="4FB81C"/>
      </a:accent4>
      <a:accent5>
        <a:srgbClr val="E35500"/>
      </a:accent5>
      <a:accent6>
        <a:srgbClr val="970A82"/>
      </a:accent6>
      <a:hlink>
        <a:srgbClr val="008FD3"/>
      </a:hlink>
      <a:folHlink>
        <a:srgbClr val="008FD3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noFill/>
        <a:ln w="25400" algn="ctr">
          <a:solidFill>
            <a:schemeClr val="tx1"/>
          </a:solidFill>
          <a:miter lim="800000"/>
          <a:headEnd/>
          <a:tailEnd/>
        </a:ln>
      </a:spPr>
      <a:bodyPr lIns="90000" tIns="72000" rIns="90000" bIns="72000" rtlCol="0" anchor="ctr"/>
      <a:lstStyle>
        <a:defPPr marR="0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tabLst/>
          <a:defRPr kumimoji="0" sz="18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ea typeface="Arial Unicode MS" pitchFamily="34" charset="-128"/>
            <a:cs typeface="Arial Unicode MS" pitchFamily="34" charset="-128"/>
          </a:defRPr>
        </a:defPPr>
      </a:lstStyle>
    </a:spDef>
    <a:lnDef>
      <a:spPr>
        <a:ln w="254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fontAlgn="base">
          <a:spcBef>
            <a:spcPct val="50000"/>
          </a:spcBef>
          <a:spcAft>
            <a:spcPct val="0"/>
          </a:spcAft>
          <a:buClr>
            <a:srgbClr val="F0AB00"/>
          </a:buClr>
          <a:buSzPct val="80000"/>
          <a:defRPr sz="1800" kern="0" dirty="0" err="1" smtClean="0">
            <a:ea typeface="Arial Unicode MS" pitchFamily="34" charset="-128"/>
            <a:cs typeface="Arial Unicode MS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P_2018_16x9_white.potx" id="{45155C84-AF73-45A8-8FAE-E2021D067E2F}" vid="{616E0658-75E9-4728-B3D8-8DBE621048B6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29292</TotalTime>
  <Words>709</Words>
  <Application>Microsoft Office PowerPoint</Application>
  <PresentationFormat>Widescreen</PresentationFormat>
  <Paragraphs>176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</vt:i4>
      </vt:variant>
    </vt:vector>
  </HeadingPairs>
  <TitlesOfParts>
    <vt:vector size="18" baseType="lpstr">
      <vt:lpstr>Arial</vt:lpstr>
      <vt:lpstr>Arial Narrow</vt:lpstr>
      <vt:lpstr>Arial Unicode MS</vt:lpstr>
      <vt:lpstr>Calibri</vt:lpstr>
      <vt:lpstr>Franklin Gothic Book</vt:lpstr>
      <vt:lpstr>Futura Bold</vt:lpstr>
      <vt:lpstr>Libre Franklin</vt:lpstr>
      <vt:lpstr>Open Sans</vt:lpstr>
      <vt:lpstr>Symbol</vt:lpstr>
      <vt:lpstr>Wingdings</vt:lpstr>
      <vt:lpstr>3_SAP 2025 16x9 white</vt:lpstr>
      <vt:lpstr>4_SAP 2025 16x9 white</vt:lpstr>
      <vt:lpstr>11_SAP 2025 16x9 white</vt:lpstr>
      <vt:lpstr>16_SAP 2026 16x9 white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Service Report</dc:title>
  <dc:creator>NFNT</dc:creator>
  <cp:lastModifiedBy>User</cp:lastModifiedBy>
  <cp:revision>811</cp:revision>
  <dcterms:created xsi:type="dcterms:W3CDTF">2023-09-12T01:32:26Z</dcterms:created>
  <dcterms:modified xsi:type="dcterms:W3CDTF">2026-10-09T10:07:49Z</dcterms:modified>
</cp:coreProperties>
</file>