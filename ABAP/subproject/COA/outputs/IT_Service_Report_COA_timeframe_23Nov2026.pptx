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  <p:sldMasterId id="2147483820" r:id="rId2"/>
    <p:sldMasterId id="2147483976" r:id="rId3"/>
    <p:sldMasterId id="2147484060" r:id="rId4"/>
  </p:sldMasterIdLst>
  <p:notesMasterIdLst>
    <p:notesMasterId r:id="rId8"/>
  </p:notesMasterIdLst>
  <p:sldIdLst>
    <p:sldId id="949" r:id="rId5"/>
    <p:sldId id="983" r:id="rId6"/>
    <p:sldId id="98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5A6"/>
    <a:srgbClr val="3EC6A6"/>
    <a:srgbClr val="92C340"/>
    <a:srgbClr val="0D70B6"/>
    <a:srgbClr val="214A8D"/>
    <a:srgbClr val="204B8E"/>
    <a:srgbClr val="60943A"/>
    <a:srgbClr val="E4E4E4"/>
    <a:srgbClr val="184AB8"/>
    <a:srgbClr val="165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1" autoAdjust="0"/>
    <p:restoredTop sz="93979" autoAdjust="0"/>
  </p:normalViewPr>
  <p:slideViewPr>
    <p:cSldViewPr snapToGrid="0">
      <p:cViewPr varScale="1">
        <p:scale>
          <a:sx n="81" d="100"/>
          <a:sy n="81" d="100"/>
        </p:scale>
        <p:origin x="845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B1B04-7018-4CA9-8087-33ECB3746589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64CEA-1551-40F6-BB48-14A212017A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67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164CEA-1551-40F6-BB48-14A212017A2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714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2364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599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3581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364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56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39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5588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03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249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0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9815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139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15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86037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717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7083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5376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10957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8802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40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23604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CF8DC8C-8B9A-8A29-00FD-64E7126D06BC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E323772-3DB4-A3E3-F951-1F77DAEFD87B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7" name="Text Placeholder 4">
                <a:extLst>
                  <a:ext uri="{FF2B5EF4-FFF2-40B4-BE49-F238E27FC236}">
                    <a16:creationId xmlns:a16="http://schemas.microsoft.com/office/drawing/2014/main" id="{A8BB8EB6-7328-C7FB-B082-8F57EB09C0B7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SAP | SAP &amp; NON-SAP | NON-SAP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A472C10-5F96-AC50-0A59-2AE1ABB900A1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E932BC54-7964-9005-AEC6-7E6B12343E2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3FFC84-4F6A-4276-98EC-8B6313EFF95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85589701-1778-E16D-5A8D-12802B614DA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08230EC3-B6C7-0207-89C3-D8ADCA707E90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5" name="Group 4">
              <a:extLst>
                <a:ext uri="{FF2B5EF4-FFF2-40B4-BE49-F238E27FC236}">
                  <a16:creationId xmlns:a16="http://schemas.microsoft.com/office/drawing/2014/main" id="{9E4E28C5-0F78-8976-8DDF-5A67FB04EEE5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DC38870-1835-2950-CC32-3D1ACBE8D97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936A56F9-D053-8DEB-721C-9C3166401671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17" name="Chevron 12">
              <a:extLst>
                <a:ext uri="{FF2B5EF4-FFF2-40B4-BE49-F238E27FC236}">
                  <a16:creationId xmlns:a16="http://schemas.microsoft.com/office/drawing/2014/main" id="{633DFC47-1096-92EB-9B17-96BF1EFD5357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2DC835C5-A976-F9A5-D0C1-3A6B5C524CAD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C70634B8-310E-ABE7-4267-FFA87A9C5C9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BCA066F9-3A19-FAF6-15FB-6DCF9D2ADE9D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6C6BB15F-B302-39AC-098D-007D7263795B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33789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394148F-77EF-CD0E-FF27-BF2BBE236ED0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DC755BB-7178-10EB-E30A-1799921991B3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43" name="Text Placeholder 4">
                <a:extLst>
                  <a:ext uri="{FF2B5EF4-FFF2-40B4-BE49-F238E27FC236}">
                    <a16:creationId xmlns:a16="http://schemas.microsoft.com/office/drawing/2014/main" id="{4388C2E3-C9BC-0B7F-4721-ACCD5092C1D7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SAP | SAP &amp; NON-SAP | NON-SAP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1BC0965-2376-5A39-0234-B73D249B7E24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45" name="Rounded Rectangle 25">
                <a:extLst>
                  <a:ext uri="{FF2B5EF4-FFF2-40B4-BE49-F238E27FC236}">
                    <a16:creationId xmlns:a16="http://schemas.microsoft.com/office/drawing/2014/main" id="{D331EFEF-CCFC-332D-2016-F5C383698B01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56CA2C-0074-A022-BF3E-EE16095C7514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71D87669-C891-EE68-AE9F-2D6D0CA69D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36" name="Right Triangle 35">
              <a:extLst>
                <a:ext uri="{FF2B5EF4-FFF2-40B4-BE49-F238E27FC236}">
                  <a16:creationId xmlns:a16="http://schemas.microsoft.com/office/drawing/2014/main" id="{B432CD8C-CF60-97A0-8C67-1445491FB452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37" name="Group 4">
              <a:extLst>
                <a:ext uri="{FF2B5EF4-FFF2-40B4-BE49-F238E27FC236}">
                  <a16:creationId xmlns:a16="http://schemas.microsoft.com/office/drawing/2014/main" id="{106E6E5E-5036-2D43-8D22-7E162E503B6C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41" name="Freeform 5">
                <a:extLst>
                  <a:ext uri="{FF2B5EF4-FFF2-40B4-BE49-F238E27FC236}">
                    <a16:creationId xmlns:a16="http://schemas.microsoft.com/office/drawing/2014/main" id="{0571237D-7678-9D34-9AE9-F86C61CEE6F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577F569F-FC2D-FB56-F3BF-B9A14AC72EB8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38" name="Chevron 12">
              <a:extLst>
                <a:ext uri="{FF2B5EF4-FFF2-40B4-BE49-F238E27FC236}">
                  <a16:creationId xmlns:a16="http://schemas.microsoft.com/office/drawing/2014/main" id="{FB01BCFD-7224-5960-AE77-4A98924A4E98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CB1592D4-36A4-68A8-FB35-5B4CCF2E9130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0" name="Flowchart: Connector 39">
              <a:extLst>
                <a:ext uri="{FF2B5EF4-FFF2-40B4-BE49-F238E27FC236}">
                  <a16:creationId xmlns:a16="http://schemas.microsoft.com/office/drawing/2014/main" id="{F80B7182-A76B-127F-4BF3-7E8FD4821A1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48" name="Arrow: Chevron 47">
            <a:extLst>
              <a:ext uri="{FF2B5EF4-FFF2-40B4-BE49-F238E27FC236}">
                <a16:creationId xmlns:a16="http://schemas.microsoft.com/office/drawing/2014/main" id="{6E879341-4BE1-D9D8-24BB-3EBD89E40AC5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9" name="Arrow: Chevron 48">
            <a:extLst>
              <a:ext uri="{FF2B5EF4-FFF2-40B4-BE49-F238E27FC236}">
                <a16:creationId xmlns:a16="http://schemas.microsoft.com/office/drawing/2014/main" id="{B6F2BE81-56BD-6FAE-37E8-9C9AD9BBF49C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9864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4E275E6-5597-FA2E-8646-FE659289D208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0EFDCE6-EAC7-5FF8-7500-391F41CE8613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AE55A15F-DE0E-8DCE-85C4-70F70EB44BAD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SAP &amp; NON-SAP | 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08BD069-D8EF-3E71-36C7-3AB01890C978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7A113609-E4BB-89CB-28AF-A4A2D694BDD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E600DE-9529-16D3-6EA3-56B10859BDA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185814F4-C54E-919B-BD97-9E07E6141B6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637BDB0D-33E3-084A-57CB-CE667B3FB539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B21CB8-4B33-32D7-20D8-C2CE3F81075A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AC9AFDC4-32AE-B0BE-F0DB-3E8653ED0DCA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2A831AD5-4A52-F224-207B-84704CFABDC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29B34329-AAC6-BE84-01EE-7094F9DD89BD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DF5F13F6-17C6-BBEA-22F2-AE9522908682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1579298D-F659-88C3-BF0C-E7B5E3EA2132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2C13BE59-8CEC-97B7-407B-4B54621B34C4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67702F7E-73CA-CC61-C866-7DDE4F9DD8A7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6523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C4A75EE-C483-A71A-62F1-1259EB39818B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0B138DF-8A3A-043A-A936-A48AC7340798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963F9425-82F0-FDDE-90A1-2F6D9EAC94C5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 &amp; NON-SAP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56F5E24-01AC-50A9-0CBA-76CB5A51DACB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BF926CE6-64B6-BF76-139C-68636C79724E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52463B-185F-FF54-0CFF-3201BA088BF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4ED3B386-5694-0583-0383-6AAE346F050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28F43FC0-2966-68CE-BB02-69B66C072F04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830FD6A-B5D9-5120-1AB9-BB92C56342CB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CEA0F39-DD12-126E-083A-C535B95D2BB3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FF044450-3E87-5BB8-8E4E-11BE5EAA2D1C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B5AE2CD1-0B2C-CB7F-15A0-D2844984E852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07626020-4F10-53B8-B1BF-169F365D035D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EAD7BB2F-6E46-6963-62B6-E52070220F7A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DFB07744-81D7-13A5-B8CB-5173A95FB3BC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B8CE1621-E66E-12D3-347F-F0E31FCF560B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8867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01FCA1-EE03-25BF-DAB7-48D5AEAF194D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9E97D8C-C2B7-37CF-AA4A-57F45047DC2E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B64142A6-963F-22C6-AD78-06FF22CA41B4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 &amp; NON-SAP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9B90614-1A74-E136-2C0F-4723DB0C572C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3A285109-B75E-B211-B068-A4308F5DB92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D09A8A7-DBB8-98C9-46B1-D33BA177E996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971E5A83-3BEF-24F6-BA03-103AB15C8D5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A5FF3D21-381C-076C-1A76-589B240F0722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E275D3-B345-4DFB-F093-B603E17BE7A1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B4A54C8-4AE2-72AD-5566-9DFAE4796F3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C9BC4F74-8F07-0516-388B-8682D5B914C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A65528F0-EFA3-FEBC-B046-7CED49881C66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E72E3736-EF26-765B-C5FC-F7B19950F5A4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9E405082-6177-58EB-0EE3-DC6C0AB6AFF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48987D61-5185-E6F3-58E2-BD1626E3B496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08B313BB-727D-6D96-4F3F-1408791D1EC2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76145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8000">
                <a:srgbClr val="21498C"/>
              </a:gs>
              <a:gs pos="13000">
                <a:schemeClr val="bg1"/>
              </a:gs>
              <a:gs pos="67000">
                <a:srgbClr val="1D5195"/>
              </a:gs>
              <a:gs pos="29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7457400" y="4370968"/>
            <a:ext cx="4241419" cy="916005"/>
          </a:xfrm>
        </p:spPr>
        <p:txBody>
          <a:bodyPr anchor="t" anchorCtr="0">
            <a:noAutofit/>
          </a:bodyPr>
          <a:lstStyle>
            <a:lvl1pPr algn="r">
              <a:defRPr sz="5498" b="1">
                <a:solidFill>
                  <a:srgbClr val="64973A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you!</a:t>
            </a:r>
            <a:endParaRPr lang="de-DE" dirty="0"/>
          </a:p>
        </p:txBody>
      </p:sp>
      <p:pic>
        <p:nvPicPr>
          <p:cNvPr id="6" name="Picture 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F8576DE-3181-A3E2-D7AD-4D178B1DC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890" y="3349024"/>
            <a:ext cx="3497929" cy="102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30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395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1346402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809" r:id="rId2"/>
    <p:sldLayoutId id="2147483807" r:id="rId3"/>
    <p:sldLayoutId id="2147483810" r:id="rId4"/>
    <p:sldLayoutId id="2147483808" r:id="rId5"/>
    <p:sldLayoutId id="2147483804" r:id="rId6"/>
    <p:sldLayoutId id="2147483806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1504976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399509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39023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62" r:id="rId2"/>
    <p:sldLayoutId id="2147484063" r:id="rId3"/>
    <p:sldLayoutId id="2147484064" r:id="rId4"/>
    <p:sldLayoutId id="2147484065" r:id="rId5"/>
    <p:sldLayoutId id="2147484066" r:id="rId6"/>
    <p:sldLayoutId id="2147484067" r:id="rId7"/>
  </p:sldLayoutIdLst>
  <p:timing>
    <p:tnLst>
      <p:par>
        <p:cTn id="1" dur="indefinite" restart="never" nodeType="tmRoot"/>
      </p:par>
    </p:tnLst>
  </p:timing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78"/>
            <a:ext cx="12192000" cy="6226422"/>
          </a:xfrm>
          <a:prstGeom prst="rect">
            <a:avLst/>
          </a:prstGeom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itle 3"/>
          <p:cNvSpPr txBox="1">
            <a:spLocks/>
          </p:cNvSpPr>
          <p:nvPr/>
        </p:nvSpPr>
        <p:spPr bwMode="black">
          <a:xfrm>
            <a:off x="241187" y="542635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kern="12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 defTabSz="914400">
              <a:spcBef>
                <a:spcPts val="0"/>
              </a:spcBef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</a:rPr>
              <a:t>SAP Enhancement for Streamlined COA Workflow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97DCA"/>
              </a:solidFill>
              <a:effectLst/>
              <a:uLnTx/>
              <a:uFillTx/>
              <a:latin typeface="Franklin Gothic Book" panose="020B0503020102020204"/>
              <a:ea typeface="+mj-ea"/>
              <a:cs typeface="+mj-cs"/>
            </a:endParaRPr>
          </a:p>
        </p:txBody>
      </p:sp>
      <p:sp>
        <p:nvSpPr>
          <p:cNvPr id="50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</a:t>
            </a:r>
            <a:r>
              <a:rPr lang="en-US" sz="1400" b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Retrieving </a:t>
            </a: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Data </a:t>
            </a:r>
            <a:r>
              <a:rPr lang="en-US" sz="1400" b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Directly </a:t>
            </a: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from SAP Result Recording, Significantly Reducing Lead Time and Eliminating Manual Entry Errors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Franklin Gothic Book" panose="020B0503020102020204"/>
              <a:ea typeface="+mj-ea"/>
              <a:cs typeface="+mj-cs"/>
            </a:endParaRPr>
          </a:p>
        </p:txBody>
      </p:sp>
      <p:sp>
        <p:nvSpPr>
          <p:cNvPr id="48" name="Snip Single Corner Rectangle 47">
            <a:extLst>
              <a:ext uri="{FF2B5EF4-FFF2-40B4-BE49-F238E27FC236}">
                <a16:creationId xmlns:a16="http://schemas.microsoft.com/office/drawing/2014/main" id="{C9F13180-DE4A-4169-97F0-680181A99A39}"/>
              </a:ext>
            </a:extLst>
          </p:cNvPr>
          <p:cNvSpPr/>
          <p:nvPr/>
        </p:nvSpPr>
        <p:spPr bwMode="gray">
          <a:xfrm>
            <a:off x="163942" y="1777706"/>
            <a:ext cx="1748044" cy="189596"/>
          </a:xfrm>
          <a:prstGeom prst="snip1Rect">
            <a:avLst>
              <a:gd name="adj" fmla="val 0"/>
            </a:avLst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89954" tIns="71962" rIns="89954" bIns="7196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1100" b="1" kern="0" dirty="0">
                <a:solidFill>
                  <a:srgbClr val="FFFFFF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PRESENT STATE</a:t>
            </a:r>
          </a:p>
        </p:txBody>
      </p:sp>
      <p:sp>
        <p:nvSpPr>
          <p:cNvPr id="49" name="Snip Single Corner Rectangle 48">
            <a:extLst>
              <a:ext uri="{FF2B5EF4-FFF2-40B4-BE49-F238E27FC236}">
                <a16:creationId xmlns:a16="http://schemas.microsoft.com/office/drawing/2014/main" id="{C9F13180-DE4A-4169-97F0-680181A99A39}"/>
              </a:ext>
            </a:extLst>
          </p:cNvPr>
          <p:cNvSpPr/>
          <p:nvPr/>
        </p:nvSpPr>
        <p:spPr bwMode="gray">
          <a:xfrm>
            <a:off x="6153570" y="1751019"/>
            <a:ext cx="2004993" cy="228097"/>
          </a:xfrm>
          <a:prstGeom prst="snip1Rect">
            <a:avLst>
              <a:gd name="adj" fmla="val 0"/>
            </a:avLst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89954" tIns="71962" rIns="89954" bIns="7196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85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VALUE-DRIVEN RESULTS</a:t>
            </a:r>
          </a:p>
        </p:txBody>
      </p:sp>
      <p:sp>
        <p:nvSpPr>
          <p:cNvPr id="73" name="Rounded Rectangle 72"/>
          <p:cNvSpPr/>
          <p:nvPr/>
        </p:nvSpPr>
        <p:spPr bwMode="gray">
          <a:xfrm>
            <a:off x="379991" y="3640234"/>
            <a:ext cx="1052570" cy="306926"/>
          </a:xfrm>
          <a:prstGeom prst="roundRect">
            <a:avLst/>
          </a:prstGeom>
          <a:solidFill>
            <a:srgbClr val="FE5401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QA / Inspector</a:t>
            </a:r>
          </a:p>
        </p:txBody>
      </p:sp>
      <p:sp>
        <p:nvSpPr>
          <p:cNvPr id="74" name="Rounded Rectangle 73"/>
          <p:cNvSpPr/>
          <p:nvPr/>
        </p:nvSpPr>
        <p:spPr bwMode="gray">
          <a:xfrm>
            <a:off x="3046990" y="2388168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Process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5" name="Rounded Rectangle 74"/>
          <p:cNvSpPr/>
          <p:nvPr/>
        </p:nvSpPr>
        <p:spPr bwMode="gray">
          <a:xfrm>
            <a:off x="4899978" y="3528706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76" name="Rounded Rectangle 75"/>
          <p:cNvSpPr/>
          <p:nvPr/>
        </p:nvSpPr>
        <p:spPr bwMode="gray">
          <a:xfrm>
            <a:off x="4899977" y="3665736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Manual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7" name="Rounded Rectangle 76"/>
          <p:cNvSpPr/>
          <p:nvPr/>
        </p:nvSpPr>
        <p:spPr bwMode="gray">
          <a:xfrm>
            <a:off x="3222567" y="2726866"/>
            <a:ext cx="161391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copy inspection</a:t>
            </a:r>
          </a:p>
        </p:txBody>
      </p:sp>
      <p:sp>
        <p:nvSpPr>
          <p:cNvPr id="78" name="Rounded Rectangle 77"/>
          <p:cNvSpPr/>
          <p:nvPr/>
        </p:nvSpPr>
        <p:spPr bwMode="gray">
          <a:xfrm>
            <a:off x="3222566" y="2935850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Random inspection copying</a:t>
            </a:r>
          </a:p>
        </p:txBody>
      </p:sp>
      <p:sp>
        <p:nvSpPr>
          <p:cNvPr id="79" name="Rounded Rectangle 78"/>
          <p:cNvSpPr/>
          <p:nvPr/>
        </p:nvSpPr>
        <p:spPr bwMode="gray">
          <a:xfrm>
            <a:off x="3222566" y="3177150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QA mapping</a:t>
            </a:r>
          </a:p>
        </p:txBody>
      </p:sp>
      <p:sp>
        <p:nvSpPr>
          <p:cNvPr id="80" name="Rounded Rectangle 79"/>
          <p:cNvSpPr/>
          <p:nvPr/>
        </p:nvSpPr>
        <p:spPr bwMode="gray">
          <a:xfrm>
            <a:off x="3222566" y="3400202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data entry in COA</a:t>
            </a:r>
          </a:p>
        </p:txBody>
      </p:sp>
      <p:sp>
        <p:nvSpPr>
          <p:cNvPr id="81" name="Rounded Rectangle 80"/>
          <p:cNvSpPr/>
          <p:nvPr/>
        </p:nvSpPr>
        <p:spPr bwMode="gray">
          <a:xfrm>
            <a:off x="575411" y="5025046"/>
            <a:ext cx="136197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NEW REQUIREMENT</a:t>
            </a:r>
          </a:p>
        </p:txBody>
      </p:sp>
      <p:sp>
        <p:nvSpPr>
          <p:cNvPr id="82" name="Rounded Rectangle 81"/>
          <p:cNvSpPr/>
          <p:nvPr/>
        </p:nvSpPr>
        <p:spPr bwMode="gray">
          <a:xfrm>
            <a:off x="5124130" y="2831423"/>
            <a:ext cx="59087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3" name="Rounded Rectangle 82"/>
          <p:cNvSpPr/>
          <p:nvPr/>
        </p:nvSpPr>
        <p:spPr bwMode="gray">
          <a:xfrm>
            <a:off x="8343900" y="2590800"/>
            <a:ext cx="1231900" cy="240623"/>
          </a:xfrm>
          <a:prstGeom prst="roundRect">
            <a:avLst/>
          </a:prstGeom>
          <a:solidFill>
            <a:srgbClr val="034AD8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 Automation</a:t>
            </a:r>
          </a:p>
        </p:txBody>
      </p:sp>
      <p:sp>
        <p:nvSpPr>
          <p:cNvPr id="84" name="Rounded Rectangle 83"/>
          <p:cNvSpPr/>
          <p:nvPr/>
        </p:nvSpPr>
        <p:spPr bwMode="gray">
          <a:xfrm>
            <a:off x="8675181" y="2877744"/>
            <a:ext cx="10979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Dynamic Mapping Matrix (By</a:t>
            </a:r>
            <a:r>
              <a:rPr kumimoji="0" lang="en-US" sz="9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JR/SR)</a:t>
            </a:r>
            <a:endParaRPr kumimoji="0" lang="en-US" sz="9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5" name="Rounded Rectangle 84"/>
          <p:cNvSpPr/>
          <p:nvPr/>
        </p:nvSpPr>
        <p:spPr bwMode="gray">
          <a:xfrm>
            <a:off x="8675181" y="3290881"/>
            <a:ext cx="10979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Get Data from Result Recording</a:t>
            </a:r>
          </a:p>
        </p:txBody>
      </p:sp>
      <p:sp>
        <p:nvSpPr>
          <p:cNvPr id="86" name="Rounded Rectangle 85"/>
          <p:cNvSpPr/>
          <p:nvPr/>
        </p:nvSpPr>
        <p:spPr bwMode="gray">
          <a:xfrm>
            <a:off x="10561003" y="3420194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7" name="Rounded Rectangle 86"/>
          <p:cNvSpPr/>
          <p:nvPr/>
        </p:nvSpPr>
        <p:spPr bwMode="gray">
          <a:xfrm>
            <a:off x="10557828" y="3559245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Generated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8" name="Rounded Rectangle 87"/>
          <p:cNvSpPr/>
          <p:nvPr/>
        </p:nvSpPr>
        <p:spPr bwMode="gray">
          <a:xfrm>
            <a:off x="10774072" y="2644564"/>
            <a:ext cx="59087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9" name="Rounded Rectangle 88"/>
          <p:cNvSpPr/>
          <p:nvPr/>
        </p:nvSpPr>
        <p:spPr bwMode="gray">
          <a:xfrm>
            <a:off x="6440532" y="3581899"/>
            <a:ext cx="1052570" cy="306926"/>
          </a:xfrm>
          <a:prstGeom prst="roundRect">
            <a:avLst/>
          </a:prstGeom>
          <a:solidFill>
            <a:srgbClr val="034AD8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QA / Inspector</a:t>
            </a:r>
          </a:p>
        </p:txBody>
      </p:sp>
      <p:sp>
        <p:nvSpPr>
          <p:cNvPr id="90" name="Rounded Rectangle 89"/>
          <p:cNvSpPr/>
          <p:nvPr/>
        </p:nvSpPr>
        <p:spPr bwMode="gray">
          <a:xfrm>
            <a:off x="1432055" y="4121119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E540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High Manual Effort</a:t>
            </a:r>
          </a:p>
        </p:txBody>
      </p:sp>
      <p:sp>
        <p:nvSpPr>
          <p:cNvPr id="91" name="Rounded Rectangle 90"/>
          <p:cNvSpPr/>
          <p:nvPr/>
        </p:nvSpPr>
        <p:spPr bwMode="gray">
          <a:xfrm>
            <a:off x="1433079" y="4387577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Multiple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manual check and re-checks.</a:t>
            </a:r>
            <a:endParaRPr kumimoji="0" lang="en-US" sz="10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2" name="Rounded Rectangle 91"/>
          <p:cNvSpPr/>
          <p:nvPr/>
        </p:nvSpPr>
        <p:spPr bwMode="gray">
          <a:xfrm>
            <a:off x="3626486" y="4121119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E540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Data Inconsistency</a:t>
            </a:r>
          </a:p>
        </p:txBody>
      </p:sp>
      <p:sp>
        <p:nvSpPr>
          <p:cNvPr id="93" name="Rounded Rectangle 92"/>
          <p:cNvSpPr/>
          <p:nvPr/>
        </p:nvSpPr>
        <p:spPr bwMode="gray">
          <a:xfrm>
            <a:off x="3627510" y="4387577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Risk of human error and sample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mismatch</a:t>
            </a:r>
            <a:endParaRPr kumimoji="0" lang="en-US" sz="10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4" name="Rounded Rectangle 93"/>
          <p:cNvSpPr/>
          <p:nvPr/>
        </p:nvSpPr>
        <p:spPr bwMode="gray">
          <a:xfrm>
            <a:off x="7935870" y="3938718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High Accuracy</a:t>
            </a:r>
          </a:p>
        </p:txBody>
      </p:sp>
      <p:sp>
        <p:nvSpPr>
          <p:cNvPr id="95" name="Rounded Rectangle 94"/>
          <p:cNvSpPr/>
          <p:nvPr/>
        </p:nvSpPr>
        <p:spPr bwMode="gray">
          <a:xfrm>
            <a:off x="7936894" y="4294076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Eliminates manual data entry error &amp; inconsistencies</a:t>
            </a:r>
          </a:p>
        </p:txBody>
      </p:sp>
      <p:sp>
        <p:nvSpPr>
          <p:cNvPr id="96" name="Rounded Rectangle 95"/>
          <p:cNvSpPr/>
          <p:nvPr/>
        </p:nvSpPr>
        <p:spPr bwMode="gray">
          <a:xfrm>
            <a:off x="9982893" y="3898252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Real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Time Data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0C58DD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7" name="Rounded Rectangle 96"/>
          <p:cNvSpPr/>
          <p:nvPr/>
        </p:nvSpPr>
        <p:spPr bwMode="gray">
          <a:xfrm>
            <a:off x="9983918" y="4253610"/>
            <a:ext cx="1404092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Updates from Result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Recording &amp; Mapping in real time</a:t>
            </a: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</a:p>
        </p:txBody>
      </p:sp>
      <p:sp>
        <p:nvSpPr>
          <p:cNvPr id="98" name="Rounded Rectangle 97"/>
          <p:cNvSpPr/>
          <p:nvPr/>
        </p:nvSpPr>
        <p:spPr bwMode="gray">
          <a:xfrm>
            <a:off x="3222565" y="3627434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data entry in COA</a:t>
            </a:r>
          </a:p>
        </p:txBody>
      </p:sp>
      <p:sp>
        <p:nvSpPr>
          <p:cNvPr id="99" name="Rounded Rectangle 98"/>
          <p:cNvSpPr/>
          <p:nvPr/>
        </p:nvSpPr>
        <p:spPr bwMode="gray">
          <a:xfrm>
            <a:off x="6120186" y="4914341"/>
            <a:ext cx="96877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Impact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0" name="Rounded Rectangle 99"/>
          <p:cNvSpPr/>
          <p:nvPr/>
        </p:nvSpPr>
        <p:spPr bwMode="gray">
          <a:xfrm>
            <a:off x="6866444" y="5304983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Faster COA Delivery</a:t>
            </a:r>
          </a:p>
        </p:txBody>
      </p:sp>
      <p:sp>
        <p:nvSpPr>
          <p:cNvPr id="101" name="Rounded Rectangle 100"/>
          <p:cNvSpPr/>
          <p:nvPr/>
        </p:nvSpPr>
        <p:spPr bwMode="gray">
          <a:xfrm>
            <a:off x="8632269" y="5279416"/>
            <a:ext cx="2748893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Significantly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reduces COA lead time.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2" name="Rounded Rectangle 101"/>
          <p:cNvSpPr/>
          <p:nvPr/>
        </p:nvSpPr>
        <p:spPr bwMode="gray">
          <a:xfrm>
            <a:off x="6866444" y="5670911"/>
            <a:ext cx="17362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Improved Data Accuracy</a:t>
            </a:r>
          </a:p>
        </p:txBody>
      </p:sp>
      <p:sp>
        <p:nvSpPr>
          <p:cNvPr id="103" name="Rounded Rectangle 102"/>
          <p:cNvSpPr/>
          <p:nvPr/>
        </p:nvSpPr>
        <p:spPr bwMode="gray">
          <a:xfrm>
            <a:off x="8632268" y="5660014"/>
            <a:ext cx="3064432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Eliminates manual errors and ensures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sample consistency.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4" name="Rounded Rectangle 103"/>
          <p:cNvSpPr/>
          <p:nvPr/>
        </p:nvSpPr>
        <p:spPr bwMode="gray">
          <a:xfrm>
            <a:off x="6856855" y="6117372"/>
            <a:ext cx="17362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Operational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Efficiency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0C58DD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5" name="Rounded Rectangle 104"/>
          <p:cNvSpPr/>
          <p:nvPr/>
        </p:nvSpPr>
        <p:spPr bwMode="gray">
          <a:xfrm>
            <a:off x="8632268" y="6114244"/>
            <a:ext cx="295285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Reduce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manual workload and rework, allowing QA to focus on value-added task.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1" name="Rounded Rectangle 40"/>
          <p:cNvSpPr/>
          <p:nvPr/>
        </p:nvSpPr>
        <p:spPr bwMode="gray">
          <a:xfrm>
            <a:off x="2334774" y="6253283"/>
            <a:ext cx="3380226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Eliminate manual copying and manual data entry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2" name="Rounded Rectangle 41"/>
          <p:cNvSpPr/>
          <p:nvPr/>
        </p:nvSpPr>
        <p:spPr bwMode="gray">
          <a:xfrm>
            <a:off x="2334773" y="5664988"/>
            <a:ext cx="36654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Create dynamic QA mapping matrix (Film Type ⇔ Source Inspection)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3" name="Rounded Rectangle 42"/>
          <p:cNvSpPr/>
          <p:nvPr/>
        </p:nvSpPr>
        <p:spPr bwMode="gray">
          <a:xfrm>
            <a:off x="2334772" y="5853949"/>
            <a:ext cx="3532628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Pull data automatically from Result Recording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4" name="Rounded Rectangle 43"/>
          <p:cNvSpPr/>
          <p:nvPr/>
        </p:nvSpPr>
        <p:spPr bwMode="gray">
          <a:xfrm>
            <a:off x="2334770" y="6043787"/>
            <a:ext cx="381880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Generate COA automatically </a:t>
            </a:r>
            <a:r>
              <a:rPr lang="en-US" sz="800" dirty="0" smtClean="0"/>
              <a:t>(Delivery </a:t>
            </a:r>
            <a:r>
              <a:rPr lang="en-US" sz="800" dirty="0"/>
              <a:t>Order → Inspection → Result → COA)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5" name="Rounded Rectangle 44"/>
          <p:cNvSpPr/>
          <p:nvPr/>
        </p:nvSpPr>
        <p:spPr bwMode="gray">
          <a:xfrm>
            <a:off x="2070204" y="5036373"/>
            <a:ext cx="3886392" cy="649625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dirty="0"/>
              <a:t>Automate COA generation by pulling data directly from result recording, implement a dynamic QA mapping matrix to link film types with their designated source inspections, and eliminate manual data entry to ensure sample consistency, reduce lead time, and improve data accuracy.</a:t>
            </a:r>
            <a:endParaRPr kumimoji="0" lang="en-US" sz="9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221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5" name="Title 3"/>
          <p:cNvSpPr txBox="1">
            <a:spLocks/>
          </p:cNvSpPr>
          <p:nvPr/>
        </p:nvSpPr>
        <p:spPr bwMode="black">
          <a:xfrm>
            <a:off x="241187" y="542635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kern="12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defTabSz="914400">
              <a:spcBef>
                <a:spcPts val="0"/>
              </a:spcBef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</a:rPr>
              <a:t>SAP Enhancement for Streamlined COA Workflow</a:t>
            </a:r>
            <a:endParaRPr lang="en-US" sz="2200" b="1" dirty="0">
              <a:solidFill>
                <a:srgbClr val="097DCA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Retrieving Data Directly from SAP Result Recording, Significantly Reducing Lead Time and Eliminating Manual Entry Errors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DAAED-1B42-443D-84FB-EA7E0AB54185}"/>
              </a:ext>
            </a:extLst>
          </p:cNvPr>
          <p:cNvSpPr txBox="1"/>
          <p:nvPr/>
        </p:nvSpPr>
        <p:spPr>
          <a:xfrm>
            <a:off x="151293" y="1568309"/>
            <a:ext cx="2490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3852">
              <a:defRPr/>
            </a:pPr>
            <a:r>
              <a:rPr lang="en-US" sz="2000" b="1" u="sng" dirty="0">
                <a:solidFill>
                  <a:srgbClr val="F0AB00"/>
                </a:solidFill>
              </a:rPr>
              <a:t>Key Accomplishment</a:t>
            </a:r>
            <a:r>
              <a:rPr lang="en-US" sz="2000" b="1" u="sng" dirty="0" smtClean="0">
                <a:solidFill>
                  <a:srgbClr val="F0AB00"/>
                </a:solidFill>
              </a:rPr>
              <a:t>:</a:t>
            </a:r>
            <a:endParaRPr lang="en-US" b="1" dirty="0">
              <a:solidFill>
                <a:srgbClr val="F0AB00"/>
              </a:solidFill>
              <a:latin typeface="Franklin Gothic Book" panose="020B0503020102020204" pitchFamily="34" charset="0"/>
              <a:ea typeface="Libre Franklin"/>
              <a:cs typeface="Libre Franklin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8900"/>
              </p:ext>
            </p:extLst>
          </p:nvPr>
        </p:nvGraphicFramePr>
        <p:xfrm>
          <a:off x="239136" y="2011474"/>
          <a:ext cx="11633770" cy="4753202"/>
        </p:xfrm>
        <a:graphic>
          <a:graphicData uri="http://schemas.openxmlformats.org/drawingml/2006/table">
            <a:tbl>
              <a:tblPr firstRow="1"/>
              <a:tblGrid>
                <a:gridCol w="1106585">
                  <a:extLst>
                    <a:ext uri="{9D8B030D-6E8A-4147-A177-3AD203B41FA5}">
                      <a16:colId xmlns:a16="http://schemas.microsoft.com/office/drawing/2014/main" val="3782133878"/>
                    </a:ext>
                  </a:extLst>
                </a:gridCol>
                <a:gridCol w="347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4468">
                  <a:extLst>
                    <a:ext uri="{9D8B030D-6E8A-4147-A177-3AD203B41FA5}">
                      <a16:colId xmlns:a16="http://schemas.microsoft.com/office/drawing/2014/main" val="3448607302"/>
                    </a:ext>
                  </a:extLst>
                </a:gridCol>
                <a:gridCol w="1276709">
                  <a:extLst>
                    <a:ext uri="{9D8B030D-6E8A-4147-A177-3AD203B41FA5}">
                      <a16:colId xmlns:a16="http://schemas.microsoft.com/office/drawing/2014/main" val="1193463776"/>
                    </a:ext>
                  </a:extLst>
                </a:gridCol>
                <a:gridCol w="1199072">
                  <a:extLst>
                    <a:ext uri="{9D8B030D-6E8A-4147-A177-3AD203B41FA5}">
                      <a16:colId xmlns:a16="http://schemas.microsoft.com/office/drawing/2014/main" val="2625563171"/>
                    </a:ext>
                  </a:extLst>
                </a:gridCol>
                <a:gridCol w="960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51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PHASE</a:t>
                      </a:r>
                    </a:p>
                  </a:txBody>
                  <a:tcPr marL="45684" marR="45684" marT="45684" marB="45684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 marL="45684" marR="45684" marT="45684" marB="45684" anchor="ctr">
                    <a:lnL w="10000" cap="flat" cmpd="sng" algn="ctr">
                      <a:noFill/>
                      <a:prstDash val="solid"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kumimoji="0" 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DELIVERABLES</a:t>
                      </a:r>
                      <a:endParaRPr 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Franklin Gothic Book" panose="020B0503020102020204" pitchFamily="34" charset="0"/>
                        </a:rPr>
                        <a:t>START DATE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Franklin Gothic Book" panose="020B0503020102020204" pitchFamily="34" charset="0"/>
                        </a:rPr>
                        <a:t>END DATE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marL="0" algn="ctr" defTabSz="1087905" rtl="0" eaLnBrk="1" fontAlgn="ctr" latinLnBrk="0" hangingPunct="1"/>
                      <a:r>
                        <a:rPr lang="en-US" sz="1300" b="1" u="none" strike="noStrike" kern="120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45684" marR="45684" marT="45684" marB="45684" anchor="ctr">
                    <a:lnL>
                      <a:noFill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Project Initiation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Project Scope &amp; Schedule are Defined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6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Discovery and Evaluation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Solutions are Discovered and Evaluated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633739"/>
                  </a:ext>
                </a:extLst>
              </a:tr>
              <a:tr h="2786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Process Map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Process Map Defined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29-May-26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100736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EXPLORE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 is completed and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29-May-26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1999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Confirmation &amp; Finalization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 is Approved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015642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Enhancement (RICEF)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RICEF Design is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006918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Authorization Requirement and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Authorization Requirements and Design is Completed and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295924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REALIZE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Enhancement (RICEF) Development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RICEF Design is Developed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7-Aug-26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597145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Run Scenario Test and Integration Test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Scenario and Integration Test are executed and Issues are resolved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13-Nov-26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Arial Narrow" panose="020B0606020202030204" pitchFamily="34" charset="0"/>
                        </a:rPr>
                        <a:t>In Progress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88064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 UAT and EUT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UAT and EUT Document are ready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12-Nov-26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13-Nov-26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320517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DEPLOY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User Acceptance Test (UAT)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User Acceptance Test is Approved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19-Nov-26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005216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End User Training (EUT)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End-Users are trained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20-Nov-26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253011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 Production System Environment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Production System Environment is Ready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19-Nov-26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20-Nov-26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12560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Cut-over Strategy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Cut-over Strategy is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20-Nov-26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160263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RUN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Go Live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Live Production Environment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23-Nov-26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23-Nov-26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792298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Support After Go Live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Functional or Technical Issues are Solved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23-Nov-26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4-Dec-26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 dirty="0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407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8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DDD49-5884-9E09-6C21-95BF76D92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62" y="2366336"/>
            <a:ext cx="10286725" cy="39078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E6C3C87-1341-4DC6-FEDC-76DD228D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25" y="-18307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C771CE9-AD06-5390-EA81-24CACE0D8103}"/>
              </a:ext>
            </a:extLst>
          </p:cNvPr>
          <p:cNvSpPr txBox="1">
            <a:spLocks/>
          </p:cNvSpPr>
          <p:nvPr/>
        </p:nvSpPr>
        <p:spPr bwMode="black">
          <a:xfrm>
            <a:off x="239790" y="544228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  <a:ea typeface="+mj-ea"/>
                <a:cs typeface="+mj-cs"/>
              </a:rPr>
              <a:t>SAP Enhancement for Streamlined COA Workflow</a:t>
            </a:r>
            <a:endParaRPr lang="en-US" sz="2200" b="1" dirty="0">
              <a:solidFill>
                <a:srgbClr val="097DC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61BF9A-DC5F-FE5A-1A20-B7623D70D4F9}"/>
              </a:ext>
            </a:extLst>
          </p:cNvPr>
          <p:cNvSpPr txBox="1"/>
          <p:nvPr/>
        </p:nvSpPr>
        <p:spPr>
          <a:xfrm>
            <a:off x="151293" y="1608715"/>
            <a:ext cx="125547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9" b="1" i="0" u="sng" strike="noStrike" kern="1200" cap="none" spc="0" normalizeH="0" baseline="0" noProof="0" dirty="0">
                <a:ln>
                  <a:noFill/>
                </a:ln>
                <a:solidFill>
                  <a:srgbClr val="60943A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Schedule: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Retrieving Data Directly from SAP Result Recording, Significantly Reducing Lead Time and Eliminating Manual Entry Errors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BC2AD2E-6796-5FAD-92F3-30DAD897173E}"/>
              </a:ext>
            </a:extLst>
          </p:cNvPr>
          <p:cNvGrpSpPr/>
          <p:nvPr/>
        </p:nvGrpSpPr>
        <p:grpSpPr>
          <a:xfrm>
            <a:off x="10728834" y="4929486"/>
            <a:ext cx="1073525" cy="1276180"/>
            <a:chOff x="10103230" y="5093086"/>
            <a:chExt cx="1474578" cy="153352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B0A782A-C948-03A9-19AE-AD7A036F4887}"/>
                </a:ext>
              </a:extLst>
            </p:cNvPr>
            <p:cNvSpPr txBox="1"/>
            <p:nvPr/>
          </p:nvSpPr>
          <p:spPr>
            <a:xfrm>
              <a:off x="10103230" y="5093086"/>
              <a:ext cx="572422" cy="2210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1088122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Arial Unicode MS" pitchFamily="34" charset="-128"/>
                  <a:cs typeface="Arial Unicode MS" pitchFamily="34" charset="-128"/>
                </a:rPr>
                <a:t>Legend: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34BC9B2-A416-B9D1-8DAB-2E07C055B7D1}"/>
                </a:ext>
              </a:extLst>
            </p:cNvPr>
            <p:cNvGrpSpPr/>
            <p:nvPr/>
          </p:nvGrpSpPr>
          <p:grpSpPr>
            <a:xfrm>
              <a:off x="10103230" y="5357141"/>
              <a:ext cx="814868" cy="252658"/>
              <a:chOff x="0" y="0"/>
              <a:chExt cx="814868" cy="25265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8DA9BF0-7906-997E-5ADB-D482034C1F40}"/>
                  </a:ext>
                </a:extLst>
              </p:cNvPr>
              <p:cNvSpPr/>
              <p:nvPr/>
            </p:nvSpPr>
            <p:spPr>
              <a:xfrm>
                <a:off x="0" y="24836"/>
                <a:ext cx="182880" cy="180158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  <p:sp>
            <p:nvSpPr>
              <p:cNvPr id="46" name="TextBox 15">
                <a:extLst>
                  <a:ext uri="{FF2B5EF4-FFF2-40B4-BE49-F238E27FC236}">
                    <a16:creationId xmlns:a16="http://schemas.microsoft.com/office/drawing/2014/main" id="{03E7B135-B394-33CF-655C-11C8FF7F420E}"/>
                  </a:ext>
                </a:extLst>
              </p:cNvPr>
              <p:cNvSpPr txBox="1"/>
              <p:nvPr/>
            </p:nvSpPr>
            <p:spPr>
              <a:xfrm>
                <a:off x="163559" y="0"/>
                <a:ext cx="651309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Planned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C33F121-9F84-AAF7-646E-860836D13384}"/>
                </a:ext>
              </a:extLst>
            </p:cNvPr>
            <p:cNvGrpSpPr/>
            <p:nvPr/>
          </p:nvGrpSpPr>
          <p:grpSpPr>
            <a:xfrm>
              <a:off x="10103230" y="5596513"/>
              <a:ext cx="1000866" cy="252658"/>
              <a:chOff x="0" y="239372"/>
              <a:chExt cx="1000866" cy="252658"/>
            </a:xfrm>
          </p:grpSpPr>
          <p:sp>
            <p:nvSpPr>
              <p:cNvPr id="43" name="TextBox 16">
                <a:extLst>
                  <a:ext uri="{FF2B5EF4-FFF2-40B4-BE49-F238E27FC236}">
                    <a16:creationId xmlns:a16="http://schemas.microsoft.com/office/drawing/2014/main" id="{810BE476-E756-C61C-1498-DB8C11BEADCC}"/>
                  </a:ext>
                </a:extLst>
              </p:cNvPr>
              <p:cNvSpPr txBox="1"/>
              <p:nvPr/>
            </p:nvSpPr>
            <p:spPr>
              <a:xfrm>
                <a:off x="163559" y="239372"/>
                <a:ext cx="837307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In Progress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DE4E44D-6301-4F85-EC8D-5EBEF187CD67}"/>
                  </a:ext>
                </a:extLst>
              </p:cNvPr>
              <p:cNvSpPr/>
              <p:nvPr/>
            </p:nvSpPr>
            <p:spPr>
              <a:xfrm>
                <a:off x="0" y="271465"/>
                <a:ext cx="182880" cy="18650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5A732BE-8159-DA0A-C5FA-FD1BDC8017E4}"/>
                </a:ext>
              </a:extLst>
            </p:cNvPr>
            <p:cNvGrpSpPr/>
            <p:nvPr/>
          </p:nvGrpSpPr>
          <p:grpSpPr>
            <a:xfrm>
              <a:off x="10111543" y="5875025"/>
              <a:ext cx="640597" cy="252658"/>
              <a:chOff x="1325336" y="0"/>
              <a:chExt cx="640597" cy="252658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CE35911-1560-4982-8241-6B7466745A0C}"/>
                  </a:ext>
                </a:extLst>
              </p:cNvPr>
              <p:cNvSpPr txBox="1"/>
              <p:nvPr/>
            </p:nvSpPr>
            <p:spPr>
              <a:xfrm>
                <a:off x="1476569" y="0"/>
                <a:ext cx="489364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Done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B0B2966-CA91-7C0D-EEF1-391EF01EECD6}"/>
                  </a:ext>
                </a:extLst>
              </p:cNvPr>
              <p:cNvSpPr/>
              <p:nvPr/>
            </p:nvSpPr>
            <p:spPr>
              <a:xfrm>
                <a:off x="1325336" y="24836"/>
                <a:ext cx="182880" cy="18015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4E071B3-BEF6-1892-D560-7AA0D6C8D466}"/>
                </a:ext>
              </a:extLst>
            </p:cNvPr>
            <p:cNvGrpSpPr/>
            <p:nvPr/>
          </p:nvGrpSpPr>
          <p:grpSpPr>
            <a:xfrm>
              <a:off x="10103230" y="6134578"/>
              <a:ext cx="1474578" cy="252658"/>
              <a:chOff x="0" y="0"/>
              <a:chExt cx="1474578" cy="252658"/>
            </a:xfrm>
          </p:grpSpPr>
          <p:sp>
            <p:nvSpPr>
              <p:cNvPr id="39" name="TextBox 2">
                <a:extLst>
                  <a:ext uri="{FF2B5EF4-FFF2-40B4-BE49-F238E27FC236}">
                    <a16:creationId xmlns:a16="http://schemas.microsoft.com/office/drawing/2014/main" id="{C7FAB42B-C767-7AB0-B485-A7585646DDC1}"/>
                  </a:ext>
                </a:extLst>
              </p:cNvPr>
              <p:cNvSpPr txBox="1"/>
              <p:nvPr/>
            </p:nvSpPr>
            <p:spPr>
              <a:xfrm>
                <a:off x="162658" y="0"/>
                <a:ext cx="1311920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Proposed Milestone</a:t>
                </a:r>
              </a:p>
            </p:txBody>
          </p:sp>
          <p:sp>
            <p:nvSpPr>
              <p:cNvPr id="40" name="Diamond 39">
                <a:extLst>
                  <a:ext uri="{FF2B5EF4-FFF2-40B4-BE49-F238E27FC236}">
                    <a16:creationId xmlns:a16="http://schemas.microsoft.com/office/drawing/2014/main" id="{43358C39-7FDC-F25E-B20E-B479679BE493}"/>
                  </a:ext>
                </a:extLst>
              </p:cNvPr>
              <p:cNvSpPr/>
              <p:nvPr/>
            </p:nvSpPr>
            <p:spPr>
              <a:xfrm>
                <a:off x="0" y="25299"/>
                <a:ext cx="182880" cy="179232"/>
              </a:xfrm>
              <a:prstGeom prst="diamond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AEE7B29-44F7-6482-9820-990AC7FB525D}"/>
                </a:ext>
              </a:extLst>
            </p:cNvPr>
            <p:cNvGrpSpPr/>
            <p:nvPr/>
          </p:nvGrpSpPr>
          <p:grpSpPr>
            <a:xfrm>
              <a:off x="10103230" y="6373950"/>
              <a:ext cx="1412044" cy="252658"/>
              <a:chOff x="0" y="239372"/>
              <a:chExt cx="1412044" cy="252658"/>
            </a:xfrm>
          </p:grpSpPr>
          <p:sp>
            <p:nvSpPr>
              <p:cNvPr id="37" name="TextBox 1">
                <a:extLst>
                  <a:ext uri="{FF2B5EF4-FFF2-40B4-BE49-F238E27FC236}">
                    <a16:creationId xmlns:a16="http://schemas.microsoft.com/office/drawing/2014/main" id="{1B665DFF-5073-C52C-523A-BD83CC4408A5}"/>
                  </a:ext>
                </a:extLst>
              </p:cNvPr>
              <p:cNvSpPr txBox="1"/>
              <p:nvPr/>
            </p:nvSpPr>
            <p:spPr>
              <a:xfrm>
                <a:off x="162658" y="239372"/>
                <a:ext cx="1249386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Finished Milestone</a:t>
                </a:r>
              </a:p>
            </p:txBody>
          </p:sp>
          <p:sp>
            <p:nvSpPr>
              <p:cNvPr id="38" name="Diamond 37">
                <a:extLst>
                  <a:ext uri="{FF2B5EF4-FFF2-40B4-BE49-F238E27FC236}">
                    <a16:creationId xmlns:a16="http://schemas.microsoft.com/office/drawing/2014/main" id="{9AD593B0-BB10-3508-1ECF-C78886515ACE}"/>
                  </a:ext>
                </a:extLst>
              </p:cNvPr>
              <p:cNvSpPr/>
              <p:nvPr/>
            </p:nvSpPr>
            <p:spPr>
              <a:xfrm>
                <a:off x="0" y="271928"/>
                <a:ext cx="182880" cy="185583"/>
              </a:xfrm>
              <a:prstGeom prst="diamon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C4313E8-5634-12AF-8E73-595AF8F3F684}"/>
              </a:ext>
            </a:extLst>
          </p:cNvPr>
          <p:cNvGrpSpPr/>
          <p:nvPr/>
        </p:nvGrpSpPr>
        <p:grpSpPr>
          <a:xfrm>
            <a:off x="7620323" y="1608715"/>
            <a:ext cx="1265529" cy="5080940"/>
            <a:chOff x="2888082" y="1357902"/>
            <a:chExt cx="1265859" cy="345527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0B6BAB-B954-8B16-F400-1B60C6992BA1}"/>
                </a:ext>
              </a:extLst>
            </p:cNvPr>
            <p:cNvSpPr txBox="1"/>
            <p:nvPr/>
          </p:nvSpPr>
          <p:spPr>
            <a:xfrm>
              <a:off x="2888082" y="1357902"/>
              <a:ext cx="1265859" cy="2632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We Are Here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A34C08-8F64-813D-4921-2E6E7BE20F67}"/>
                </a:ext>
              </a:extLst>
            </p:cNvPr>
            <p:cNvCxnSpPr>
              <a:cxnSpLocks/>
            </p:cNvCxnSpPr>
            <p:nvPr/>
          </p:nvCxnSpPr>
          <p:spPr>
            <a:xfrm>
              <a:off x="3520846" y="1630560"/>
              <a:ext cx="0" cy="3182612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821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2.xml><?xml version="1.0" encoding="utf-8"?>
<a:theme xmlns:a="http://schemas.openxmlformats.org/drawingml/2006/main" name="4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3.xml><?xml version="1.0" encoding="utf-8"?>
<a:theme xmlns:a="http://schemas.openxmlformats.org/drawingml/2006/main" name="11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4.xml><?xml version="1.0" encoding="utf-8"?>
<a:theme xmlns:a="http://schemas.openxmlformats.org/drawingml/2006/main" name="16_SAP 2026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29277</TotalTime>
  <Words>521</Words>
  <Application>Microsoft Office PowerPoint</Application>
  <PresentationFormat>Widescreen</PresentationFormat>
  <Paragraphs>158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</vt:i4>
      </vt:variant>
    </vt:vector>
  </HeadingPairs>
  <TitlesOfParts>
    <vt:vector size="17" baseType="lpstr">
      <vt:lpstr>Arial</vt:lpstr>
      <vt:lpstr>Arial Narrow</vt:lpstr>
      <vt:lpstr>Arial Unicode MS</vt:lpstr>
      <vt:lpstr>Calibri</vt:lpstr>
      <vt:lpstr>Franklin Gothic Book</vt:lpstr>
      <vt:lpstr>Futura Bold</vt:lpstr>
      <vt:lpstr>Libre Franklin</vt:lpstr>
      <vt:lpstr>Open Sans</vt:lpstr>
      <vt:lpstr>Symbol</vt:lpstr>
      <vt:lpstr>Wingdings</vt:lpstr>
      <vt:lpstr>3_SAP 2025 16x9 white</vt:lpstr>
      <vt:lpstr>4_SAP 2025 16x9 white</vt:lpstr>
      <vt:lpstr>11_SAP 2025 16x9 white</vt:lpstr>
      <vt:lpstr>16_SAP 2026 16x9 white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Service Report</dc:title>
  <dc:creator>NFNT</dc:creator>
  <cp:lastModifiedBy>User</cp:lastModifiedBy>
  <cp:revision>809</cp:revision>
  <dcterms:created xsi:type="dcterms:W3CDTF">2023-09-12T01:32:26Z</dcterms:created>
  <dcterms:modified xsi:type="dcterms:W3CDTF">2026-10-06T03:51:40Z</dcterms:modified>
</cp:coreProperties>
</file>